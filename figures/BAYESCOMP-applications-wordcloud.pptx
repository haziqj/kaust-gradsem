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15240000" cy="4286250"/>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08" d="100"/>
          <a:sy n="108" d="100"/>
        </p:scale>
        <p:origin x="256" y="13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What does BAYESCOMP do?</a:t>
            </a:r>
          </a:p>
          <a:p>
            <a:r>
              <a:rPr dirty="0"/>
              <a:t>Research map prepared on 28 September 2026, primarily from 2025–2026 papers, preprints and the group's research announcements. The categories are an editorial synthesis, not an official group taxonomy or an exhaustive bibliography. Collaborative papers are included where BAYESCOMP researchers contribute; this does not attribute the entire collaboration to the group.</a:t>
            </a:r>
          </a:p>
          <a:p>
            <a:r>
              <a:rPr dirty="0"/>
              <a:t>## Recommended visual framing</a:t>
            </a:r>
          </a:p>
          <a:p>
            <a:r>
              <a:rPr dirty="0"/>
              <a:t>Use a connected spectrum with four areas: **Foundations &amp; priors**, **Model development**, **Inference &amp; assessment**, and **Scalable computation**. Place **applications across the full width underneath**, with a two-way connection: substantive problems motivate the research, and applications test the resulting methods.</a:t>
            </a:r>
          </a:p>
          <a:p>
            <a:r>
              <a:rPr dirty="0"/>
              <a:t>Positions indicate emphasis, not a quantitative score, chronology, hierarchy or a sequence every project must follow. Methodology and computation overlap, especially around approximate inference. Treat the four areas as useful reading anchors with permeable boundaries.</a:t>
            </a:r>
          </a:p>
          <a:p>
            <a:r>
              <a:rPr dirty="0"/>
              <a:t>The group's own description </a:t>
            </a:r>
            <a:r>
              <a:rPr dirty="0" err="1"/>
              <a:t>centres</a:t>
            </a:r>
            <a:r>
              <a:rPr dirty="0"/>
              <a:t> on statistical and computational methodology for approximate Bayesian analysis of complex latent Gaussian models, linking theory to high-performance computation. The recent work also reaches Bayesian foundations, psychometric SEM and generalized Bayesian unlearning. [BAYESCOMP overview](https://</a:t>
            </a:r>
            <a:r>
              <a:rPr dirty="0" err="1"/>
              <a:t>bayescomp.kaust.edu.sa</a:t>
            </a:r>
            <a:r>
              <a:rPr dirty="0"/>
              <a:t>/)</a:t>
            </a:r>
          </a:p>
          <a:p>
            <a:r>
              <a:rPr dirty="0"/>
              <a:t>## Research directions behind the four areas</a:t>
            </a:r>
          </a:p>
          <a:p>
            <a:r>
              <a:rPr dirty="0"/>
              <a:t>| Direction | Central question | Representative current work | Placement and overlap |</a:t>
            </a:r>
          </a:p>
          <a:p>
            <a:r>
              <a:rPr dirty="0"/>
              <a:t>|---|---|---|---|</a:t>
            </a:r>
          </a:p>
          <a:p>
            <a:r>
              <a:rPr dirty="0"/>
              <a:t>| Bayesian foundations | What principles justify updating and deleting information? | Information conservation, coherent deletion and generalized Bayesian unlearning. | Foundations, with a direct link to predictive assessment and variational inference. |</a:t>
            </a:r>
          </a:p>
          <a:p>
            <a:r>
              <a:rPr dirty="0"/>
              <a:t>| Prior construction and dependence | How can substantive knowledge and </a:t>
            </a:r>
            <a:r>
              <a:rPr dirty="0" err="1"/>
              <a:t>regularisation</a:t>
            </a:r>
            <a:r>
              <a:rPr dirty="0"/>
              <a:t> enter a model? | PC priors, graph-based correlation models and informative priors </a:t>
            </a:r>
            <a:r>
              <a:rPr dirty="0" err="1"/>
              <a:t>centred</a:t>
            </a:r>
            <a:r>
              <a:rPr dirty="0"/>
              <a:t> on a reference correlation matrix. | Foundations and model development. |</a:t>
            </a:r>
          </a:p>
          <a:p>
            <a:r>
              <a:rPr dirty="0"/>
              <a:t>| Latent variable modelling and psychometrics | How can latent constructs be estimated efficiently? | Approximate Bayesian SEM, CFA and a broader research </a:t>
            </a:r>
            <a:r>
              <a:rPr dirty="0" err="1"/>
              <a:t>programme</a:t>
            </a:r>
            <a:r>
              <a:rPr dirty="0"/>
              <a:t> covering IRT. | Model development and approximate inference. |</a:t>
            </a:r>
          </a:p>
          <a:p>
            <a:r>
              <a:rPr dirty="0"/>
              <a:t>| Spatial, temporal and joint modelling | How should structured dependence and linked outcomes be represented? | </a:t>
            </a:r>
            <a:r>
              <a:rPr dirty="0" err="1"/>
              <a:t>Spatio</a:t>
            </a:r>
            <a:r>
              <a:rPr dirty="0"/>
              <a:t>-temporal Gaussian fields, spatial point processes, and joint longitudinal–survival models. | Model development, often closely coupled to numerical work. |</a:t>
            </a:r>
          </a:p>
          <a:p>
            <a:r>
              <a:rPr dirty="0"/>
              <a:t>| Approximate Bayesian inference | How can posterior distributions be approximated accurately and quickly? | INLA, Laplace approximations, variational corrections and skewed posterior approximations. | The central bridge between statistical methodology and computation. |</a:t>
            </a:r>
          </a:p>
          <a:p>
            <a:r>
              <a:rPr dirty="0"/>
              <a:t>| Predictive assessment and model criticism | What prediction task is being evaluated, and are the assumptions adequate? | Leave-group-, cluster- and region-out cross-validation, model checking and robustness analysis. | Inference and assessment, with foundational and computational contributions. |</a:t>
            </a:r>
          </a:p>
          <a:p>
            <a:r>
              <a:rPr dirty="0"/>
              <a:t>| Numerical methods and computing systems | How can the required calculations scale? | Structure-adaptive sparse solvers, automatic differentiation, GPU acceleration and distributed inference. | Scalable computation, informed by the model's mathematical structure. |</a:t>
            </a:r>
          </a:p>
          <a:p>
            <a:r>
              <a:rPr dirty="0"/>
              <a:t>## Recent evidence and why it matters</a:t>
            </a:r>
          </a:p>
          <a:p>
            <a:r>
              <a:rPr dirty="0"/>
              <a:t>1. **Information deletion.** </a:t>
            </a:r>
            <a:r>
              <a:rPr dirty="0" err="1"/>
              <a:t>Montcho</a:t>
            </a:r>
            <a:r>
              <a:rPr dirty="0"/>
              <a:t> and Rue, *Coherent information deletion: Bayes' theorem and generalized Bayesian unlearning*. First submitted 8 February 2026; latest version reviewed here: 27 August 2026, v3. The earlier title was *Optimal information deletion and Bayes' theorem*. The paper complements Zellner's information-processing result with deletion, identifies the leave-data-out posterior under the stated criterion, and extends the argument to coherent generalized Bayesian deletion. It warrants an explicit foundations label. [Preprint](https://</a:t>
            </a:r>
            <a:r>
              <a:rPr dirty="0" err="1"/>
              <a:t>arxiv.org</a:t>
            </a:r>
            <a:r>
              <a:rPr dirty="0"/>
              <a:t>/abs/2602.09061v3)</a:t>
            </a:r>
          </a:p>
          <a:p>
            <a:r>
              <a:rPr dirty="0"/>
              <a:t>2. **Informative correlation priors.** Freni-</a:t>
            </a:r>
            <a:r>
              <a:rPr dirty="0" err="1"/>
              <a:t>Sterrantino</a:t>
            </a:r>
            <a:r>
              <a:rPr dirty="0"/>
              <a:t>, van Niekerk, Krainski, Rustand, Jamil and Rue, *Informative Distance-Based Priors for Correlation Matrices </a:t>
            </a:r>
            <a:r>
              <a:rPr dirty="0" err="1"/>
              <a:t>Centred</a:t>
            </a:r>
            <a:r>
              <a:rPr dirty="0"/>
              <a:t> on a Target Reference*, 21 July 2026. It develops priors around user-specified correlation structures and accommodates graph constraints, with implementation in </a:t>
            </a:r>
            <a:r>
              <a:rPr dirty="0" err="1"/>
              <a:t>graphpcor</a:t>
            </a:r>
            <a:r>
              <a:rPr dirty="0"/>
              <a:t>. A useful nuance: shrinkage toward an arbitrary reference need not mean shrinkage toward a simpler model, even though the construction uses the PC-prior framework. [Preprint](https://</a:t>
            </a:r>
            <a:r>
              <a:rPr dirty="0" err="1"/>
              <a:t>arxiv.org</a:t>
            </a:r>
            <a:r>
              <a:rPr dirty="0"/>
              <a:t>/abs/2607.18926)</a:t>
            </a:r>
          </a:p>
          <a:p>
            <a:r>
              <a:rPr dirty="0"/>
              <a:t>3. **SEM methodology.** Jamil and Rue, *Approximate Bayesian Inference for Structural Equation Models using Integrated Nested Laplace Approximations*. First submitted 26 March 2026; v4 dated 16 September 2026. A bespoke adaptation of INLA ideas integrates out latent variables and combines posterior profiling with variational corrections. The current version discusses limitations under weak identification and near variance boundaries. This belongs to both model-specific methodology and inference. [Preprint](https://</a:t>
            </a:r>
            <a:r>
              <a:rPr dirty="0" err="1"/>
              <a:t>arxiv.org</a:t>
            </a:r>
            <a:r>
              <a:rPr dirty="0"/>
              <a:t>/abs/2603.25690v4)</a:t>
            </a:r>
          </a:p>
          <a:p>
            <a:r>
              <a:rPr dirty="0"/>
              <a:t>4. **Psychometric workflows and broader LVM development.** The </a:t>
            </a:r>
            <a:r>
              <a:rPr dirty="0" err="1"/>
              <a:t>INLAvaan</a:t>
            </a:r>
            <a:r>
              <a:rPr dirty="0"/>
              <a:t> companion manuscript describes implementation and applied workflows. Separately, the group's April 2026 research </a:t>
            </a:r>
            <a:r>
              <a:rPr dirty="0" err="1"/>
              <a:t>programme</a:t>
            </a:r>
            <a:r>
              <a:rPr dirty="0"/>
              <a:t> explicitly covers factor analysis, SEM and IRT. The infographic's IRT label represents that broader </a:t>
            </a:r>
            <a:r>
              <a:rPr dirty="0" err="1"/>
              <a:t>programme</a:t>
            </a:r>
            <a:r>
              <a:rPr dirty="0"/>
              <a:t>; it does not imply that every model class is already covered by the current SEM paper. [</a:t>
            </a:r>
            <a:r>
              <a:rPr dirty="0" err="1"/>
              <a:t>INLAvaan</a:t>
            </a:r>
            <a:r>
              <a:rPr dirty="0"/>
              <a:t> manuscript](https://</a:t>
            </a:r>
            <a:r>
              <a:rPr dirty="0" err="1"/>
              <a:t>arxiv.org</a:t>
            </a:r>
            <a:r>
              <a:rPr dirty="0"/>
              <a:t>/abs/2604.00671), [group research </a:t>
            </a:r>
            <a:r>
              <a:rPr dirty="0" err="1"/>
              <a:t>programme</a:t>
            </a:r>
            <a:r>
              <a:rPr dirty="0"/>
              <a:t>](https://</a:t>
            </a:r>
            <a:r>
              <a:rPr dirty="0" err="1"/>
              <a:t>bayescomp.kaust.edu.sa</a:t>
            </a:r>
            <a:r>
              <a:rPr dirty="0"/>
              <a:t>/articles/2026/03/10/bayescomp-group-secures-crg-funding-revolutionize-latent-variable-modeling)</a:t>
            </a:r>
          </a:p>
          <a:p>
            <a:r>
              <a:rPr dirty="0"/>
              <a:t>5. **Joint longitudinal–survival models.** Rustand, Rue, Le Gall and </a:t>
            </a:r>
            <a:r>
              <a:rPr dirty="0" err="1"/>
              <a:t>Leffondre</a:t>
            </a:r>
            <a:r>
              <a:rPr dirty="0"/>
              <a:t>, *Efficient Bayesian inference for non-linear association structures in joint models: A hierarchical approach via INLA*, 20 April 2026. The work relaxes linear biomarker–risk associations and implements the approach in </a:t>
            </a:r>
            <a:r>
              <a:rPr dirty="0" err="1"/>
              <a:t>INLAjoint</a:t>
            </a:r>
            <a:r>
              <a:rPr dirty="0"/>
              <a:t>, with a BMI/mortality application. This is a substantive methodological direction, as well as a health application. [Preprint](https://</a:t>
            </a:r>
            <a:r>
              <a:rPr dirty="0" err="1"/>
              <a:t>arxiv.org</a:t>
            </a:r>
            <a:r>
              <a:rPr dirty="0"/>
              <a:t>/abs/2604.18057)</a:t>
            </a:r>
          </a:p>
          <a:p>
            <a:r>
              <a:rPr dirty="0"/>
              <a:t>6. **Approximation accuracy.** Dutta, van Niekerk and Rue, *Scalable Skewed Bayesian Inference for Latent Gaussian Models Using INLA and Variational Bayes*, JCGS, published online 21 April 2026. The work improves treatment of skewed marginals while retaining dependence, using a variational framework within INLA. This supports naming approximate inference explicitly, beyond a generic “computational methods” category. [Published article](https://</a:t>
            </a:r>
            <a:r>
              <a:rPr dirty="0" err="1"/>
              <a:t>www.tandfonline.com</a:t>
            </a:r>
            <a:r>
              <a:rPr dirty="0"/>
              <a:t>/</a:t>
            </a:r>
            <a:r>
              <a:rPr dirty="0" err="1"/>
              <a:t>doi</a:t>
            </a:r>
            <a:r>
              <a:rPr dirty="0"/>
              <a:t>/full/10.1080/10618600.2026.2628274)</a:t>
            </a:r>
          </a:p>
          <a:p>
            <a:r>
              <a:rPr dirty="0"/>
              <a:t>7. **Cross-validation under dependence.** Liu, van Niekerk and Rue, *Leave-group-out cross-validation for latent Gaussian models*, SORT 49(1), 2025. Group selection changes the prediction setting being evaluated, and posterior adjustment avoids repeated fitting. [Published article](https://</a:t>
            </a:r>
            <a:r>
              <a:rPr dirty="0" err="1"/>
              <a:t>www.idescat.cat</a:t>
            </a:r>
            <a:r>
              <a:rPr dirty="0"/>
              <a:t>/sort/sort491/49.1.5.Liu-etal.pdf)</a:t>
            </a:r>
          </a:p>
          <a:p>
            <a:r>
              <a:rPr dirty="0"/>
              <a:t>8. **Multilevel SEM cross-validation.** </a:t>
            </a:r>
            <a:r>
              <a:rPr dirty="0" err="1"/>
              <a:t>Alhyari</a:t>
            </a:r>
            <a:r>
              <a:rPr dirty="0"/>
              <a:t>, Jamil, </a:t>
            </a:r>
            <a:r>
              <a:rPr dirty="0" err="1"/>
              <a:t>Montcho</a:t>
            </a:r>
            <a:r>
              <a:rPr dirty="0"/>
              <a:t> and Rue, *Deterministic Leave-One-Cluster-Out Cross-Validation for Multilevel Bayesian Structural Equation Models*, 1 September 2026. It develops a deterministic approximation using one </a:t>
            </a:r>
            <a:r>
              <a:rPr dirty="0" err="1"/>
              <a:t>INLAvaan</a:t>
            </a:r>
            <a:r>
              <a:rPr dirty="0"/>
              <a:t> fit, with education and well-being examples. [Preprint](https://</a:t>
            </a:r>
            <a:r>
              <a:rPr dirty="0" err="1"/>
              <a:t>arxiv.org</a:t>
            </a:r>
            <a:r>
              <a:rPr dirty="0"/>
              <a:t>/abs/2609.00670)</a:t>
            </a:r>
          </a:p>
          <a:p>
            <a:r>
              <a:rPr dirty="0"/>
              <a:t>9. **Spatial point-process cross-validation.** </a:t>
            </a:r>
            <a:r>
              <a:rPr dirty="0" err="1"/>
              <a:t>Montcho</a:t>
            </a:r>
            <a:r>
              <a:rPr dirty="0"/>
              <a:t>, Rue, Lindgren, Bolin, Krainski, Castro-Camilo and Martino, *Cross Validation for the log Gaussian Cox Process*, 15 September 2026. Spatial regions define the prediction units. Unlearning and Laplace approximations enable predictive assessment without repeated refitting. This makes the foundations–spatial modelling–assessment connection particularly clear. [Preprint](https://</a:t>
            </a:r>
            <a:r>
              <a:rPr dirty="0" err="1"/>
              <a:t>arxiv.org</a:t>
            </a:r>
            <a:r>
              <a:rPr dirty="0"/>
              <a:t>/abs/2609.17908)</a:t>
            </a:r>
          </a:p>
          <a:p>
            <a:r>
              <a:rPr dirty="0"/>
              <a:t>10. **Model checking and robustness.** *Robustness, model checking, and hierarchical models*, JRSS B 87(3), 2025, develops a workflow connecting assumption checks to sensitivity of conclusions. Latent </a:t>
            </a:r>
            <a:r>
              <a:rPr dirty="0" err="1"/>
              <a:t>Gaussianity</a:t>
            </a:r>
            <a:r>
              <a:rPr dirty="0"/>
              <a:t> is a central example, with implementations in Stan and R-INLA. This complements cross-validation, which asks a different predictive question. [Published article](https://</a:t>
            </a:r>
            <a:r>
              <a:rPr dirty="0" err="1"/>
              <a:t>academic.oup.com</a:t>
            </a:r>
            <a:r>
              <a:rPr dirty="0"/>
              <a:t>/</a:t>
            </a:r>
            <a:r>
              <a:rPr dirty="0" err="1"/>
              <a:t>jrsssb</a:t>
            </a:r>
            <a:r>
              <a:rPr dirty="0"/>
              <a:t>/article/87/3/632/7914952)</a:t>
            </a:r>
          </a:p>
          <a:p>
            <a:r>
              <a:rPr dirty="0"/>
              <a:t>11. **Sparse numerical kernels.** Abdul Fattah, </a:t>
            </a:r>
            <a:r>
              <a:rPr dirty="0" err="1"/>
              <a:t>Ltaief</a:t>
            </a:r>
            <a:r>
              <a:rPr dirty="0"/>
              <a:t>, Rue and Keyes, *Dense Matrices Are Alike; Sparse Matrices Are Sparse in Their Own Way: A Structure-Adaptive Tile Cholesky Factorization*, 24 September 2026. The solver adapts storage and computation to matrix structure, targeting repeated factorizations such as those required by INLA. The project is </a:t>
            </a:r>
            <a:r>
              <a:rPr dirty="0" err="1"/>
              <a:t>sTiles</a:t>
            </a:r>
            <a:r>
              <a:rPr dirty="0"/>
              <a:t>. [Preprint](https://</a:t>
            </a:r>
            <a:r>
              <a:rPr dirty="0" err="1"/>
              <a:t>arxiv.org</a:t>
            </a:r>
            <a:r>
              <a:rPr dirty="0"/>
              <a:t>/abs/2609.29765)</a:t>
            </a:r>
          </a:p>
          <a:p>
            <a:r>
              <a:rPr dirty="0"/>
              <a:t>12. **GPU and distributed inference.** Gaedke-Merzhäuser and collaborators, *Accelerated </a:t>
            </a:r>
            <a:r>
              <a:rPr dirty="0" err="1"/>
              <a:t>Spatio</a:t>
            </a:r>
            <a:r>
              <a:rPr dirty="0"/>
              <a:t>-Temporal Bayesian Modeling for Multivariate Gaussian Processes*, 2025, introduce DALIA. Its sparse precision formulation and parallel implementation connect model structure to large-scale inference, demonstrated with air-pollution data. [Paper/preprint](https://</a:t>
            </a:r>
            <a:r>
              <a:rPr dirty="0" err="1"/>
              <a:t>arxiv.org</a:t>
            </a:r>
            <a:r>
              <a:rPr dirty="0"/>
              <a:t>/abs/2507.06938)</a:t>
            </a:r>
          </a:p>
          <a:p>
            <a:r>
              <a:rPr dirty="0"/>
              <a:t>13. **Automatic differentiation.** Boudaoud and collaborators, *ADELIA: Automatic Differentiation for Efficient Laplace Inference Approximations*, 7 May 2026. This develops differentiation through structured sparse INLA operations with multi-GPU execution. It gives a more specific description of the computational research than “acceleration” alone. [Preprint](https://</a:t>
            </a:r>
            <a:r>
              <a:rPr dirty="0" err="1"/>
              <a:t>arxiv.org</a:t>
            </a:r>
            <a:r>
              <a:rPr dirty="0"/>
              <a:t>/abs/2605.06392)</a:t>
            </a:r>
          </a:p>
          <a:p>
            <a:r>
              <a:rPr dirty="0"/>
              <a:t>The latest items above are identified as preprints; </a:t>
            </a:r>
            <a:r>
              <a:rPr dirty="0" err="1"/>
              <a:t>arXiv</a:t>
            </a:r>
            <a:r>
              <a:rPr dirty="0"/>
              <a:t> availability does not establish peer-reviewed publication.</a:t>
            </a:r>
          </a:p>
          <a:p>
            <a:r>
              <a:rPr dirty="0"/>
              <a:t>## Applications and software</a:t>
            </a:r>
          </a:p>
          <a:p>
            <a:r>
              <a:rPr dirty="0"/>
              <a:t>The application strip groups examples into education and psychology, health and survival, and environment and climate. These labels describe broad drivers and test settings, not an exhaustive portfolio. Supporting examples include PISA school climate and MIDUS well-being in the multilevel SEM work, BMI and mortality in joint modelling, and air pollution in DALIA. The group also reports a 2025 coral-bleaching collaboration. [Group account of coral research](https://</a:t>
            </a:r>
            <a:r>
              <a:rPr dirty="0" err="1"/>
              <a:t>bayescomp.kaust.edu.sa</a:t>
            </a:r>
            <a:r>
              <a:rPr dirty="0"/>
              <a:t>/articles/2025/11/19/equatorial-coral-reefs-may-offer-natural-refuge-during-marine-heatwaves)</a:t>
            </a:r>
          </a:p>
          <a:p>
            <a:r>
              <a:rPr dirty="0"/>
              <a:t>Software is a cross-cutting research output: R-INLA, </a:t>
            </a:r>
            <a:r>
              <a:rPr dirty="0" err="1"/>
              <a:t>INLAvaan</a:t>
            </a:r>
            <a:r>
              <a:rPr dirty="0"/>
              <a:t>, </a:t>
            </a:r>
            <a:r>
              <a:rPr dirty="0" err="1"/>
              <a:t>INLAjoint</a:t>
            </a:r>
            <a:r>
              <a:rPr dirty="0"/>
              <a:t>, </a:t>
            </a:r>
            <a:r>
              <a:rPr dirty="0" err="1"/>
              <a:t>graphpcor</a:t>
            </a:r>
            <a:r>
              <a:rPr dirty="0"/>
              <a:t>, </a:t>
            </a:r>
            <a:r>
              <a:rPr dirty="0" err="1"/>
              <a:t>sTiles</a:t>
            </a:r>
            <a:r>
              <a:rPr dirty="0"/>
              <a:t> and DALIA make different parts of the work usable. Their names are kept in this note rather than crowding the half-slide. </a:t>
            </a:r>
            <a:r>
              <a:rPr dirty="0" err="1"/>
              <a:t>INLAvaan</a:t>
            </a:r>
            <a:r>
              <a:rPr dirty="0"/>
              <a:t> uses a bespoke adaptation of INLA ideas; it should not be described simply as sending all SEMs through the usual R-INLA latent-Gaussian workflow.</a:t>
            </a:r>
          </a:p>
          <a:p>
            <a:r>
              <a:rPr dirty="0"/>
              <a:t>## Reading the infographic</a:t>
            </a:r>
          </a:p>
          <a:p>
            <a:r>
              <a:rPr dirty="0"/>
              <a:t>“Latent variables” in the model-development column uses the psychometric sense (SEM/CFA/IRT). Many spatial and joint models also contain latent variables. Separating the labels helps an audience </a:t>
            </a:r>
            <a:r>
              <a:rPr dirty="0" err="1"/>
              <a:t>recognise</a:t>
            </a:r>
            <a:r>
              <a:rPr dirty="0"/>
              <a:t> substantive research directions without implying disjoint mathematical classes.</a:t>
            </a:r>
          </a:p>
          <a:p>
            <a:r>
              <a:rPr dirty="0"/>
              <a:t>The image is 1600 × 450 in vector coordinates, exactly 16:4.5. The PNG is twice that resolution. At full slide width it occupies half the height of a 16:9 slide. The PowerPoint contains one custom-size slide with native editable text and diagram objects. Copy those objects into a standard slide, or insert the PNG/SVG at full slide width.# Evidence for the INLA applications cloud</a:t>
            </a:r>
          </a:p>
          <a:p>
            <a:endParaRPr dirty="0"/>
          </a:p>
          <a:p>
            <a:r>
              <a:rPr dirty="0"/>
              <a:t>The terms below refer to documented applications. BAYESCOMP-linked work supplies most of the cloud. Dolphins and HIV also appear as established applications from the wider INLA community, without claiming BAYESCOMP authorship. Font sizes do not encode publication counts. Spatial, temporal and spatiotemporal describe the applied data settings rather than separate fields.</a:t>
            </a:r>
          </a:p>
          <a:p>
            <a:endParaRPr dirty="0"/>
          </a:p>
          <a:p>
            <a:r>
              <a:rPr dirty="0"/>
              <a:t>| Words in the cloud | Concrete application and source | Connection |</a:t>
            </a:r>
          </a:p>
          <a:p>
            <a:r>
              <a:rPr dirty="0"/>
              <a:t>|---|---|---|</a:t>
            </a:r>
          </a:p>
          <a:p>
            <a:r>
              <a:rPr dirty="0"/>
              <a:t>| Education, Psychology | PISA 2022 school-safety climate and personality/well-being in MIDUS. [</a:t>
            </a:r>
            <a:r>
              <a:rPr dirty="0" err="1"/>
              <a:t>Alhyari</a:t>
            </a:r>
            <a:r>
              <a:rPr dirty="0"/>
              <a:t>, Jamil, </a:t>
            </a:r>
            <a:r>
              <a:rPr dirty="0" err="1"/>
              <a:t>Montcho</a:t>
            </a:r>
            <a:r>
              <a:rPr dirty="0"/>
              <a:t> and Rue, 2026](https://</a:t>
            </a:r>
            <a:r>
              <a:rPr dirty="0" err="1"/>
              <a:t>arxiv.org</a:t>
            </a:r>
            <a:r>
              <a:rPr dirty="0"/>
              <a:t>/abs/2609.00670) | BAYESCOMP authors. Uses </a:t>
            </a:r>
            <a:r>
              <a:rPr dirty="0" err="1"/>
              <a:t>INLAvaan's</a:t>
            </a:r>
            <a:r>
              <a:rPr dirty="0"/>
              <a:t> bespoke INLA-based SEM framework. |</a:t>
            </a:r>
          </a:p>
          <a:p>
            <a:r>
              <a:rPr dirty="0"/>
              <a:t>| fMRI, Neuroscience | Human Connectome Project motor-task data. [van Niekerk, Krainski, Rustand and Rue, 2023](https://</a:t>
            </a:r>
            <a:r>
              <a:rPr dirty="0" err="1"/>
              <a:t>arxiv.org</a:t>
            </a:r>
            <a:r>
              <a:rPr dirty="0"/>
              <a:t>/abs/2204.06797) | BAYESCOMP authors. Includes an fMRI application of modern INLA. |</a:t>
            </a:r>
          </a:p>
          <a:p>
            <a:r>
              <a:rPr dirty="0"/>
              <a:t>| Air pollution, Environment, spatiotemporal | Northern Italy air-pollution measurements. [Gaedke-Merzhäuser et al., DALIA, 2025](https://</a:t>
            </a:r>
            <a:r>
              <a:rPr dirty="0" err="1"/>
              <a:t>arxiv.org</a:t>
            </a:r>
            <a:r>
              <a:rPr dirty="0"/>
              <a:t>/abs/2507.06938) | Includes Gaedke-Merzhäuser and Rue. |</a:t>
            </a:r>
          </a:p>
          <a:p>
            <a:r>
              <a:rPr dirty="0"/>
              <a:t>| Climate, spatial, temporal | Real-world climate data in INLA-DIST. [Gaedke-Merzhäuser, Krainski, </a:t>
            </a:r>
            <a:r>
              <a:rPr dirty="0" err="1"/>
              <a:t>Janalik</a:t>
            </a:r>
            <a:r>
              <a:rPr dirty="0"/>
              <a:t>, Rue and Schenk, 2023](https://</a:t>
            </a:r>
            <a:r>
              <a:rPr dirty="0" err="1"/>
              <a:t>arxiv.org</a:t>
            </a:r>
            <a:r>
              <a:rPr dirty="0"/>
              <a:t>/abs/2303.15254) | BAYESCOMP collaboration. |</a:t>
            </a:r>
          </a:p>
          <a:p>
            <a:r>
              <a:rPr dirty="0"/>
              <a:t>| Coral reefs, Ecology, Conservation | Global coral bleaching and marine heatwaves, fitted with R-INLA. [Ferris et al., 2025](https://</a:t>
            </a:r>
            <a:r>
              <a:rPr dirty="0" err="1"/>
              <a:t>doi.org</a:t>
            </a:r>
            <a:r>
              <a:rPr dirty="0"/>
              <a:t>/10.1111/gcb.70594) | Rue contributed to the statistical framework. [BAYESCOMP account](https://</a:t>
            </a:r>
            <a:r>
              <a:rPr dirty="0" err="1"/>
              <a:t>bayescomp.kaust.edu.sa</a:t>
            </a:r>
            <a:r>
              <a:rPr dirty="0"/>
              <a:t>/articles/2025/11/19/equatorial-coral-reefs-may-offer-natural-refuge-during-marine-heatwaves). |</a:t>
            </a:r>
          </a:p>
          <a:p>
            <a:r>
              <a:rPr dirty="0"/>
              <a:t>| Cancer, Healthcare | GERCOR and PRIME cancer clinical trials. [Rustand, van Niekerk, Rue et al., 2023](https://</a:t>
            </a:r>
            <a:r>
              <a:rPr dirty="0" err="1"/>
              <a:t>doi.org</a:t>
            </a:r>
            <a:r>
              <a:rPr dirty="0"/>
              <a:t>/10.1002/bimj.202100322) | BAYESCOMP authors and clinical collaborators. Uses R-INLA for joint models. |</a:t>
            </a:r>
          </a:p>
          <a:p>
            <a:r>
              <a:rPr dirty="0"/>
              <a:t>| Epidemiology, Public health, Disease mapping, Infectious diseases | Seasonal Lyme borreliosis risk in France, fitted with INLA. [Fu et al., 2023](https://</a:t>
            </a:r>
            <a:r>
              <a:rPr dirty="0" err="1"/>
              <a:t>pmc.ncbi.nlm.nih.gov</a:t>
            </a:r>
            <a:r>
              <a:rPr dirty="0"/>
              <a:t>/articles/PMC10283463/) | Includes Denis Rustand. |</a:t>
            </a:r>
          </a:p>
          <a:p>
            <a:r>
              <a:rPr dirty="0"/>
              <a:t>| dolphins | Two dolphin species in the Central Tyrrhenian Sea, using INLA and </a:t>
            </a:r>
            <a:r>
              <a:rPr dirty="0" err="1"/>
              <a:t>inlabru</a:t>
            </a:r>
            <a:r>
              <a:rPr dirty="0"/>
              <a:t>. [Martino et al., 2021](https://</a:t>
            </a:r>
            <a:r>
              <a:rPr dirty="0" err="1"/>
              <a:t>arxiv.org</a:t>
            </a:r>
            <a:r>
              <a:rPr dirty="0"/>
              <a:t>/abs/2103.16125) | Wider INLA community, led by INLA co-developer Sara Martino. |</a:t>
            </a:r>
          </a:p>
          <a:p>
            <a:r>
              <a:rPr dirty="0"/>
              <a:t>| HIV | HIV prevalence across sub-Saharan Africa, fitted with R-INLA. [Dwyer-Lindgren et al., 2019](https://</a:t>
            </a:r>
            <a:r>
              <a:rPr dirty="0" err="1"/>
              <a:t>doi.org</a:t>
            </a:r>
            <a:r>
              <a:rPr dirty="0"/>
              <a:t>/10.1038/s41586-019-1200-9) | Wider INLA application, also the source of the HIV figure supplied earlier. |</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6374C99-97E2-4F16-A75A-181C2F44FC84}"/>
              </a:ext>
            </a:extLst>
          </p:cNvPr>
          <p:cNvSpPr>
            <a:spLocks noGrp="1"/>
          </p:cNvSpPr>
          <p:nvPr/>
        </p:nvSpPr>
        <p:spPr>
          <a:xfrm>
            <a:off x="457200" y="550590"/>
            <a:ext cx="14325600" cy="47625"/>
          </a:xfrm>
          <a:prstGeom prst="rect">
            <a:avLst/>
          </a:prstGeom>
          <a:gradFill>
            <a:gsLst>
              <a:gs pos="0">
                <a:srgbClr val="6356A4"/>
              </a:gs>
              <a:gs pos="33333">
                <a:srgbClr val="286DA0"/>
              </a:gs>
              <a:gs pos="66667">
                <a:srgbClr val="008A8C"/>
              </a:gs>
              <a:gs pos="100000">
                <a:srgbClr val="B87521"/>
              </a:gs>
            </a:gsLst>
            <a:lin ang="0"/>
          </a:gradFill>
          <a:ln w="0">
            <a:noFill/>
            <a:prstDash val="solid"/>
          </a:ln>
        </p:spPr>
        <p:txBody>
          <a:bodyPr/>
          <a:lstStyle/>
          <a:p>
            <a:endParaRPr/>
          </a:p>
        </p:txBody>
      </p:sp>
      <p:sp>
        <p:nvSpPr>
          <p:cNvPr id="6" name="Foundations &amp; priors">
            <a:extLst>
              <a:ext uri="{FF2B5EF4-FFF2-40B4-BE49-F238E27FC236}">
                <a16:creationId xmlns:a16="http://schemas.microsoft.com/office/drawing/2014/main" id="{08BBF72E-A671-44E3-BA4E-9EFCFB56EEC7}"/>
              </a:ext>
            </a:extLst>
          </p:cNvPr>
          <p:cNvSpPr>
            <a:spLocks noGrp="1"/>
          </p:cNvSpPr>
          <p:nvPr/>
        </p:nvSpPr>
        <p:spPr>
          <a:xfrm>
            <a:off x="457200" y="93390"/>
            <a:ext cx="3343275" cy="323850"/>
          </a:xfrm>
          <a:prstGeom prst="rect">
            <a:avLst/>
          </a:prstGeom>
          <a:noFill/>
          <a:ln w="0">
            <a:noFill/>
            <a:prstDash val="solid"/>
          </a:ln>
        </p:spPr>
        <p:txBody>
          <a:bodyPr wrap="none" lIns="0" tIns="0" rIns="0" bIns="0" anchor="ctr">
            <a:noAutofit/>
          </a:bodyPr>
          <a:lstStyle/>
          <a:p>
            <a:pPr algn="l">
              <a:buNone/>
              <a:defRPr sz="2025" b="1">
                <a:solidFill>
                  <a:srgbClr val="6356A4"/>
                </a:solidFill>
                <a:latin typeface="Arial"/>
                <a:ea typeface="Arial"/>
                <a:cs typeface="Arial"/>
              </a:defRPr>
            </a:pPr>
            <a:r>
              <a:rPr sz="2025" b="1">
                <a:solidFill>
                  <a:srgbClr val="6356A4"/>
                </a:solidFill>
                <a:latin typeface="Arial"/>
                <a:ea typeface="Arial"/>
                <a:cs typeface="Arial"/>
              </a:rPr>
              <a:t>Foundations &amp; priors</a:t>
            </a:r>
          </a:p>
        </p:txBody>
      </p:sp>
      <p:sp>
        <p:nvSpPr>
          <p:cNvPr id="7" name="Oval 6">
            <a:extLst>
              <a:ext uri="{FF2B5EF4-FFF2-40B4-BE49-F238E27FC236}">
                <a16:creationId xmlns:a16="http://schemas.microsoft.com/office/drawing/2014/main" id="{4ADC81A3-173D-461B-8E15-096F7C4CBFAB}"/>
              </a:ext>
            </a:extLst>
          </p:cNvPr>
          <p:cNvSpPr>
            <a:spLocks noGrp="1"/>
          </p:cNvSpPr>
          <p:nvPr/>
        </p:nvSpPr>
        <p:spPr>
          <a:xfrm>
            <a:off x="447675" y="479153"/>
            <a:ext cx="190500" cy="190500"/>
          </a:xfrm>
          <a:prstGeom prst="ellipse">
            <a:avLst/>
          </a:prstGeom>
          <a:solidFill>
            <a:srgbClr val="FFFFFF"/>
          </a:solidFill>
          <a:ln w="28575">
            <a:solidFill>
              <a:srgbClr val="6356A4"/>
            </a:solidFill>
            <a:prstDash val="solid"/>
          </a:ln>
        </p:spPr>
        <p:txBody>
          <a:bodyPr/>
          <a:lstStyle/>
          <a:p>
            <a:endParaRPr/>
          </a:p>
        </p:txBody>
      </p:sp>
      <p:sp>
        <p:nvSpPr>
          <p:cNvPr id="8" name="Straight Connector 7">
            <a:extLst>
              <a:ext uri="{FF2B5EF4-FFF2-40B4-BE49-F238E27FC236}">
                <a16:creationId xmlns:a16="http://schemas.microsoft.com/office/drawing/2014/main" id="{104E495C-96B4-4320-A34E-0EDA31FCAF70}"/>
              </a:ext>
            </a:extLst>
          </p:cNvPr>
          <p:cNvSpPr>
            <a:spLocks noGrp="1"/>
          </p:cNvSpPr>
          <p:nvPr/>
        </p:nvSpPr>
        <p:spPr>
          <a:xfrm>
            <a:off x="542925" y="674415"/>
            <a:ext cx="0" cy="1104900"/>
          </a:xfrm>
          <a:prstGeom prst="line">
            <a:avLst/>
          </a:prstGeom>
          <a:noFill/>
          <a:ln w="14288">
            <a:solidFill>
              <a:srgbClr val="6356A4"/>
            </a:solidFill>
            <a:prstDash val="solid"/>
          </a:ln>
        </p:spPr>
        <p:txBody>
          <a:bodyPr/>
          <a:lstStyle/>
          <a:p>
            <a:endParaRPr/>
          </a:p>
        </p:txBody>
      </p:sp>
      <p:sp>
        <p:nvSpPr>
          <p:cNvPr id="9" name="Straight Connector 8">
            <a:extLst>
              <a:ext uri="{FF2B5EF4-FFF2-40B4-BE49-F238E27FC236}">
                <a16:creationId xmlns:a16="http://schemas.microsoft.com/office/drawing/2014/main" id="{199FA7AF-84FB-41F1-9FDA-A343174FCE22}"/>
              </a:ext>
            </a:extLst>
          </p:cNvPr>
          <p:cNvSpPr>
            <a:spLocks noGrp="1"/>
          </p:cNvSpPr>
          <p:nvPr/>
        </p:nvSpPr>
        <p:spPr>
          <a:xfrm>
            <a:off x="542925" y="1036365"/>
            <a:ext cx="114300" cy="0"/>
          </a:xfrm>
          <a:prstGeom prst="line">
            <a:avLst/>
          </a:prstGeom>
          <a:noFill/>
          <a:ln w="14288">
            <a:solidFill>
              <a:srgbClr val="6356A4"/>
            </a:solidFill>
            <a:prstDash val="solid"/>
          </a:ln>
        </p:spPr>
        <p:txBody>
          <a:bodyPr/>
          <a:lstStyle/>
          <a:p>
            <a:endParaRPr/>
          </a:p>
        </p:txBody>
      </p:sp>
      <p:sp>
        <p:nvSpPr>
          <p:cNvPr id="10" name="Information deletion / unlearning">
            <a:extLst>
              <a:ext uri="{FF2B5EF4-FFF2-40B4-BE49-F238E27FC236}">
                <a16:creationId xmlns:a16="http://schemas.microsoft.com/office/drawing/2014/main" id="{2CD01B05-030C-40B6-88F0-5E04EB19A2F0}"/>
              </a:ext>
            </a:extLst>
          </p:cNvPr>
          <p:cNvSpPr>
            <a:spLocks noGrp="1"/>
          </p:cNvSpPr>
          <p:nvPr/>
        </p:nvSpPr>
        <p:spPr>
          <a:xfrm>
            <a:off x="733425" y="893490"/>
            <a:ext cx="3190875" cy="285750"/>
          </a:xfrm>
          <a:prstGeom prst="rect">
            <a:avLst/>
          </a:prstGeom>
          <a:noFill/>
          <a:ln w="0">
            <a:noFill/>
            <a:prstDash val="solid"/>
          </a:ln>
        </p:spPr>
        <p:txBody>
          <a:bodyPr wrap="none" lIns="0" tIns="0" rIns="0" bIns="0" anchor="ctr">
            <a:noAutofit/>
          </a:bodyPr>
          <a:lstStyle/>
          <a:p>
            <a:pPr algn="l">
              <a:buNone/>
              <a:defRPr sz="1575" b="0">
                <a:solidFill>
                  <a:srgbClr val="142C42"/>
                </a:solidFill>
                <a:latin typeface="Arial"/>
                <a:ea typeface="Arial"/>
                <a:cs typeface="Arial"/>
              </a:defRPr>
            </a:pPr>
            <a:r>
              <a:rPr sz="1575" b="0">
                <a:solidFill>
                  <a:srgbClr val="142C42"/>
                </a:solidFill>
                <a:latin typeface="Arial"/>
                <a:ea typeface="Arial"/>
                <a:cs typeface="Arial"/>
              </a:rPr>
              <a:t>Information deletion / unlearning</a:t>
            </a:r>
          </a:p>
        </p:txBody>
      </p:sp>
      <p:sp>
        <p:nvSpPr>
          <p:cNvPr id="11" name="Straight Connector 10">
            <a:extLst>
              <a:ext uri="{FF2B5EF4-FFF2-40B4-BE49-F238E27FC236}">
                <a16:creationId xmlns:a16="http://schemas.microsoft.com/office/drawing/2014/main" id="{A95FEF84-909D-4A03-A200-542199635992}"/>
              </a:ext>
            </a:extLst>
          </p:cNvPr>
          <p:cNvSpPr>
            <a:spLocks noGrp="1"/>
          </p:cNvSpPr>
          <p:nvPr/>
        </p:nvSpPr>
        <p:spPr>
          <a:xfrm>
            <a:off x="542925" y="1407840"/>
            <a:ext cx="114300" cy="0"/>
          </a:xfrm>
          <a:prstGeom prst="line">
            <a:avLst/>
          </a:prstGeom>
          <a:noFill/>
          <a:ln w="14288">
            <a:solidFill>
              <a:srgbClr val="6356A4"/>
            </a:solidFill>
            <a:prstDash val="solid"/>
          </a:ln>
        </p:spPr>
        <p:txBody>
          <a:bodyPr/>
          <a:lstStyle/>
          <a:p>
            <a:endParaRPr/>
          </a:p>
        </p:txBody>
      </p:sp>
      <p:sp>
        <p:nvSpPr>
          <p:cNvPr id="12" name="PC priors &amp; regularisation">
            <a:extLst>
              <a:ext uri="{FF2B5EF4-FFF2-40B4-BE49-F238E27FC236}">
                <a16:creationId xmlns:a16="http://schemas.microsoft.com/office/drawing/2014/main" id="{F3309AEB-D4AF-419E-A079-BA3240856C4C}"/>
              </a:ext>
            </a:extLst>
          </p:cNvPr>
          <p:cNvSpPr>
            <a:spLocks noGrp="1"/>
          </p:cNvSpPr>
          <p:nvPr/>
        </p:nvSpPr>
        <p:spPr>
          <a:xfrm>
            <a:off x="733425" y="1264965"/>
            <a:ext cx="3190875" cy="285750"/>
          </a:xfrm>
          <a:prstGeom prst="rect">
            <a:avLst/>
          </a:prstGeom>
          <a:noFill/>
          <a:ln w="0">
            <a:noFill/>
            <a:prstDash val="solid"/>
          </a:ln>
        </p:spPr>
        <p:txBody>
          <a:bodyPr wrap="none" lIns="0" tIns="0" rIns="0" bIns="0" anchor="ctr">
            <a:noAutofit/>
          </a:bodyPr>
          <a:lstStyle/>
          <a:p>
            <a:pPr algn="l">
              <a:buNone/>
              <a:defRPr sz="1575" b="0">
                <a:solidFill>
                  <a:srgbClr val="142C42"/>
                </a:solidFill>
                <a:latin typeface="Arial"/>
                <a:ea typeface="Arial"/>
                <a:cs typeface="Arial"/>
              </a:defRPr>
            </a:pPr>
            <a:r>
              <a:rPr sz="1575" b="0">
                <a:solidFill>
                  <a:srgbClr val="142C42"/>
                </a:solidFill>
                <a:latin typeface="Arial"/>
                <a:ea typeface="Arial"/>
                <a:cs typeface="Arial"/>
              </a:rPr>
              <a:t>PC priors &amp; regularisation</a:t>
            </a:r>
          </a:p>
        </p:txBody>
      </p:sp>
      <p:sp>
        <p:nvSpPr>
          <p:cNvPr id="13" name="Straight Connector 12">
            <a:extLst>
              <a:ext uri="{FF2B5EF4-FFF2-40B4-BE49-F238E27FC236}">
                <a16:creationId xmlns:a16="http://schemas.microsoft.com/office/drawing/2014/main" id="{75C6B9E1-89D1-4456-937F-A0E4A37CB8C2}"/>
              </a:ext>
            </a:extLst>
          </p:cNvPr>
          <p:cNvSpPr>
            <a:spLocks noGrp="1"/>
          </p:cNvSpPr>
          <p:nvPr/>
        </p:nvSpPr>
        <p:spPr>
          <a:xfrm>
            <a:off x="542925" y="1779315"/>
            <a:ext cx="114300" cy="0"/>
          </a:xfrm>
          <a:prstGeom prst="line">
            <a:avLst/>
          </a:prstGeom>
          <a:noFill/>
          <a:ln w="14288">
            <a:solidFill>
              <a:srgbClr val="6356A4"/>
            </a:solidFill>
            <a:prstDash val="solid"/>
          </a:ln>
        </p:spPr>
        <p:txBody>
          <a:bodyPr/>
          <a:lstStyle/>
          <a:p>
            <a:endParaRPr/>
          </a:p>
        </p:txBody>
      </p:sp>
      <p:sp>
        <p:nvSpPr>
          <p:cNvPr id="14" name="Informative correlation priors">
            <a:extLst>
              <a:ext uri="{FF2B5EF4-FFF2-40B4-BE49-F238E27FC236}">
                <a16:creationId xmlns:a16="http://schemas.microsoft.com/office/drawing/2014/main" id="{3941637A-926B-404E-B17B-80A8B0C5DD1F}"/>
              </a:ext>
            </a:extLst>
          </p:cNvPr>
          <p:cNvSpPr>
            <a:spLocks noGrp="1"/>
          </p:cNvSpPr>
          <p:nvPr/>
        </p:nvSpPr>
        <p:spPr>
          <a:xfrm>
            <a:off x="733425" y="1636440"/>
            <a:ext cx="3190875" cy="285750"/>
          </a:xfrm>
          <a:prstGeom prst="rect">
            <a:avLst/>
          </a:prstGeom>
          <a:noFill/>
          <a:ln w="0">
            <a:noFill/>
            <a:prstDash val="solid"/>
          </a:ln>
        </p:spPr>
        <p:txBody>
          <a:bodyPr wrap="none" lIns="0" tIns="0" rIns="0" bIns="0" anchor="ctr">
            <a:noAutofit/>
          </a:bodyPr>
          <a:lstStyle/>
          <a:p>
            <a:pPr algn="l">
              <a:buNone/>
              <a:defRPr sz="1575" b="0">
                <a:solidFill>
                  <a:srgbClr val="142C42"/>
                </a:solidFill>
                <a:latin typeface="Arial"/>
                <a:ea typeface="Arial"/>
                <a:cs typeface="Arial"/>
              </a:defRPr>
            </a:pPr>
            <a:r>
              <a:rPr sz="1575" b="0">
                <a:solidFill>
                  <a:srgbClr val="142C42"/>
                </a:solidFill>
                <a:latin typeface="Arial"/>
                <a:ea typeface="Arial"/>
                <a:cs typeface="Arial"/>
              </a:rPr>
              <a:t>Informative correlation priors</a:t>
            </a:r>
          </a:p>
        </p:txBody>
      </p:sp>
      <p:sp>
        <p:nvSpPr>
          <p:cNvPr id="15" name="Model development">
            <a:extLst>
              <a:ext uri="{FF2B5EF4-FFF2-40B4-BE49-F238E27FC236}">
                <a16:creationId xmlns:a16="http://schemas.microsoft.com/office/drawing/2014/main" id="{B2248BAF-B792-4DFC-9ABB-2C942B23E280}"/>
              </a:ext>
            </a:extLst>
          </p:cNvPr>
          <p:cNvSpPr>
            <a:spLocks noGrp="1"/>
          </p:cNvSpPr>
          <p:nvPr/>
        </p:nvSpPr>
        <p:spPr>
          <a:xfrm>
            <a:off x="4143375" y="93390"/>
            <a:ext cx="3343275" cy="323850"/>
          </a:xfrm>
          <a:prstGeom prst="rect">
            <a:avLst/>
          </a:prstGeom>
          <a:noFill/>
          <a:ln w="0">
            <a:noFill/>
            <a:prstDash val="solid"/>
          </a:ln>
        </p:spPr>
        <p:txBody>
          <a:bodyPr wrap="none" lIns="0" tIns="0" rIns="0" bIns="0" anchor="ctr">
            <a:noAutofit/>
          </a:bodyPr>
          <a:lstStyle/>
          <a:p>
            <a:pPr algn="l">
              <a:buNone/>
              <a:defRPr sz="2025" b="1">
                <a:solidFill>
                  <a:srgbClr val="286DA0"/>
                </a:solidFill>
                <a:latin typeface="Arial"/>
                <a:ea typeface="Arial"/>
                <a:cs typeface="Arial"/>
              </a:defRPr>
            </a:pPr>
            <a:r>
              <a:rPr sz="2025" b="1">
                <a:solidFill>
                  <a:srgbClr val="286DA0"/>
                </a:solidFill>
                <a:latin typeface="Arial"/>
                <a:ea typeface="Arial"/>
                <a:cs typeface="Arial"/>
              </a:rPr>
              <a:t>Model development</a:t>
            </a:r>
          </a:p>
        </p:txBody>
      </p:sp>
      <p:sp>
        <p:nvSpPr>
          <p:cNvPr id="16" name="Oval 15">
            <a:extLst>
              <a:ext uri="{FF2B5EF4-FFF2-40B4-BE49-F238E27FC236}">
                <a16:creationId xmlns:a16="http://schemas.microsoft.com/office/drawing/2014/main" id="{097E1DC4-DAA3-4A59-AA54-9227E7CC38BC}"/>
              </a:ext>
            </a:extLst>
          </p:cNvPr>
          <p:cNvSpPr>
            <a:spLocks noGrp="1"/>
          </p:cNvSpPr>
          <p:nvPr/>
        </p:nvSpPr>
        <p:spPr>
          <a:xfrm>
            <a:off x="4133850" y="479153"/>
            <a:ext cx="190500" cy="190500"/>
          </a:xfrm>
          <a:prstGeom prst="ellipse">
            <a:avLst/>
          </a:prstGeom>
          <a:solidFill>
            <a:srgbClr val="FFFFFF"/>
          </a:solidFill>
          <a:ln w="28575">
            <a:solidFill>
              <a:srgbClr val="286DA0"/>
            </a:solidFill>
            <a:prstDash val="solid"/>
          </a:ln>
        </p:spPr>
        <p:txBody>
          <a:bodyPr/>
          <a:lstStyle/>
          <a:p>
            <a:endParaRPr/>
          </a:p>
        </p:txBody>
      </p:sp>
      <p:sp>
        <p:nvSpPr>
          <p:cNvPr id="17" name="Straight Connector 16">
            <a:extLst>
              <a:ext uri="{FF2B5EF4-FFF2-40B4-BE49-F238E27FC236}">
                <a16:creationId xmlns:a16="http://schemas.microsoft.com/office/drawing/2014/main" id="{5DA904EC-3FC7-4CFD-AC5C-E5AB1C50E25F}"/>
              </a:ext>
            </a:extLst>
          </p:cNvPr>
          <p:cNvSpPr>
            <a:spLocks noGrp="1"/>
          </p:cNvSpPr>
          <p:nvPr/>
        </p:nvSpPr>
        <p:spPr>
          <a:xfrm>
            <a:off x="4229100" y="674415"/>
            <a:ext cx="0" cy="1104900"/>
          </a:xfrm>
          <a:prstGeom prst="line">
            <a:avLst/>
          </a:prstGeom>
          <a:noFill/>
          <a:ln w="14288">
            <a:solidFill>
              <a:srgbClr val="286DA0"/>
            </a:solidFill>
            <a:prstDash val="solid"/>
          </a:ln>
        </p:spPr>
        <p:txBody>
          <a:bodyPr/>
          <a:lstStyle/>
          <a:p>
            <a:endParaRPr/>
          </a:p>
        </p:txBody>
      </p:sp>
      <p:sp>
        <p:nvSpPr>
          <p:cNvPr id="18" name="Straight Connector 17">
            <a:extLst>
              <a:ext uri="{FF2B5EF4-FFF2-40B4-BE49-F238E27FC236}">
                <a16:creationId xmlns:a16="http://schemas.microsoft.com/office/drawing/2014/main" id="{43FB54BB-661E-40B8-9270-00EB8D16373C}"/>
              </a:ext>
            </a:extLst>
          </p:cNvPr>
          <p:cNvSpPr>
            <a:spLocks noGrp="1"/>
          </p:cNvSpPr>
          <p:nvPr/>
        </p:nvSpPr>
        <p:spPr>
          <a:xfrm>
            <a:off x="4229100" y="1036365"/>
            <a:ext cx="114300" cy="0"/>
          </a:xfrm>
          <a:prstGeom prst="line">
            <a:avLst/>
          </a:prstGeom>
          <a:noFill/>
          <a:ln w="14288">
            <a:solidFill>
              <a:srgbClr val="286DA0"/>
            </a:solidFill>
            <a:prstDash val="solid"/>
          </a:ln>
        </p:spPr>
        <p:txBody>
          <a:bodyPr/>
          <a:lstStyle/>
          <a:p>
            <a:endParaRPr/>
          </a:p>
        </p:txBody>
      </p:sp>
      <p:sp>
        <p:nvSpPr>
          <p:cNvPr id="19" name="Latent variables: SEM, CFA, IRT">
            <a:extLst>
              <a:ext uri="{FF2B5EF4-FFF2-40B4-BE49-F238E27FC236}">
                <a16:creationId xmlns:a16="http://schemas.microsoft.com/office/drawing/2014/main" id="{FCDFBCB8-ABFD-43B2-BD63-810E34034354}"/>
              </a:ext>
            </a:extLst>
          </p:cNvPr>
          <p:cNvSpPr>
            <a:spLocks noGrp="1"/>
          </p:cNvSpPr>
          <p:nvPr/>
        </p:nvSpPr>
        <p:spPr>
          <a:xfrm>
            <a:off x="4419600" y="893490"/>
            <a:ext cx="3190875" cy="285750"/>
          </a:xfrm>
          <a:prstGeom prst="rect">
            <a:avLst/>
          </a:prstGeom>
          <a:noFill/>
          <a:ln w="0">
            <a:noFill/>
            <a:prstDash val="solid"/>
          </a:ln>
        </p:spPr>
        <p:txBody>
          <a:bodyPr wrap="none" lIns="0" tIns="0" rIns="0" bIns="0" anchor="ctr">
            <a:noAutofit/>
          </a:bodyPr>
          <a:lstStyle/>
          <a:p>
            <a:pPr algn="l">
              <a:buNone/>
              <a:defRPr sz="1575" b="0">
                <a:solidFill>
                  <a:srgbClr val="142C42"/>
                </a:solidFill>
                <a:latin typeface="Arial"/>
                <a:ea typeface="Arial"/>
                <a:cs typeface="Arial"/>
              </a:defRPr>
            </a:pPr>
            <a:r>
              <a:rPr sz="1575" b="0">
                <a:solidFill>
                  <a:srgbClr val="142C42"/>
                </a:solidFill>
                <a:latin typeface="Arial"/>
                <a:ea typeface="Arial"/>
                <a:cs typeface="Arial"/>
              </a:rPr>
              <a:t>Latent variables: SEM, CFA, IRT</a:t>
            </a:r>
          </a:p>
        </p:txBody>
      </p:sp>
      <p:sp>
        <p:nvSpPr>
          <p:cNvPr id="20" name="Straight Connector 19">
            <a:extLst>
              <a:ext uri="{FF2B5EF4-FFF2-40B4-BE49-F238E27FC236}">
                <a16:creationId xmlns:a16="http://schemas.microsoft.com/office/drawing/2014/main" id="{FF0E473F-797C-47B6-9CF9-BDFB0F7F3ED4}"/>
              </a:ext>
            </a:extLst>
          </p:cNvPr>
          <p:cNvSpPr>
            <a:spLocks noGrp="1"/>
          </p:cNvSpPr>
          <p:nvPr/>
        </p:nvSpPr>
        <p:spPr>
          <a:xfrm>
            <a:off x="4229100" y="1407840"/>
            <a:ext cx="114300" cy="0"/>
          </a:xfrm>
          <a:prstGeom prst="line">
            <a:avLst/>
          </a:prstGeom>
          <a:noFill/>
          <a:ln w="14288">
            <a:solidFill>
              <a:srgbClr val="286DA0"/>
            </a:solidFill>
            <a:prstDash val="solid"/>
          </a:ln>
        </p:spPr>
        <p:txBody>
          <a:bodyPr/>
          <a:lstStyle/>
          <a:p>
            <a:endParaRPr/>
          </a:p>
        </p:txBody>
      </p:sp>
      <p:sp>
        <p:nvSpPr>
          <p:cNvPr id="21" name="Spatio-temporal / point processes">
            <a:extLst>
              <a:ext uri="{FF2B5EF4-FFF2-40B4-BE49-F238E27FC236}">
                <a16:creationId xmlns:a16="http://schemas.microsoft.com/office/drawing/2014/main" id="{B587E0C3-F799-4F46-B80F-1108FF048E37}"/>
              </a:ext>
            </a:extLst>
          </p:cNvPr>
          <p:cNvSpPr>
            <a:spLocks noGrp="1"/>
          </p:cNvSpPr>
          <p:nvPr/>
        </p:nvSpPr>
        <p:spPr>
          <a:xfrm>
            <a:off x="4419600" y="1264965"/>
            <a:ext cx="3190875" cy="285750"/>
          </a:xfrm>
          <a:prstGeom prst="rect">
            <a:avLst/>
          </a:prstGeom>
          <a:noFill/>
          <a:ln w="0">
            <a:noFill/>
            <a:prstDash val="solid"/>
          </a:ln>
        </p:spPr>
        <p:txBody>
          <a:bodyPr wrap="none" lIns="0" tIns="0" rIns="0" bIns="0" anchor="ctr">
            <a:noAutofit/>
          </a:bodyPr>
          <a:lstStyle/>
          <a:p>
            <a:pPr algn="l">
              <a:buNone/>
              <a:defRPr sz="1575" b="0">
                <a:solidFill>
                  <a:srgbClr val="142C42"/>
                </a:solidFill>
                <a:latin typeface="Arial"/>
                <a:ea typeface="Arial"/>
                <a:cs typeface="Arial"/>
              </a:defRPr>
            </a:pPr>
            <a:r>
              <a:rPr sz="1575" b="0">
                <a:solidFill>
                  <a:srgbClr val="142C42"/>
                </a:solidFill>
                <a:latin typeface="Arial"/>
                <a:ea typeface="Arial"/>
                <a:cs typeface="Arial"/>
              </a:rPr>
              <a:t>Spatio-temporal / point processes</a:t>
            </a:r>
          </a:p>
        </p:txBody>
      </p:sp>
      <p:sp>
        <p:nvSpPr>
          <p:cNvPr id="22" name="Straight Connector 21">
            <a:extLst>
              <a:ext uri="{FF2B5EF4-FFF2-40B4-BE49-F238E27FC236}">
                <a16:creationId xmlns:a16="http://schemas.microsoft.com/office/drawing/2014/main" id="{74FDDCCF-4CFE-4491-819C-3F6C0CB1B160}"/>
              </a:ext>
            </a:extLst>
          </p:cNvPr>
          <p:cNvSpPr>
            <a:spLocks noGrp="1"/>
          </p:cNvSpPr>
          <p:nvPr/>
        </p:nvSpPr>
        <p:spPr>
          <a:xfrm>
            <a:off x="4229100" y="1779315"/>
            <a:ext cx="114300" cy="0"/>
          </a:xfrm>
          <a:prstGeom prst="line">
            <a:avLst/>
          </a:prstGeom>
          <a:noFill/>
          <a:ln w="14288">
            <a:solidFill>
              <a:srgbClr val="286DA0"/>
            </a:solidFill>
            <a:prstDash val="solid"/>
          </a:ln>
        </p:spPr>
        <p:txBody>
          <a:bodyPr/>
          <a:lstStyle/>
          <a:p>
            <a:endParaRPr/>
          </a:p>
        </p:txBody>
      </p:sp>
      <p:sp>
        <p:nvSpPr>
          <p:cNvPr id="23" name="Joint longitudinal–survival models">
            <a:extLst>
              <a:ext uri="{FF2B5EF4-FFF2-40B4-BE49-F238E27FC236}">
                <a16:creationId xmlns:a16="http://schemas.microsoft.com/office/drawing/2014/main" id="{8C65861F-E726-409E-AC94-48C5631E1CC0}"/>
              </a:ext>
            </a:extLst>
          </p:cNvPr>
          <p:cNvSpPr>
            <a:spLocks noGrp="1"/>
          </p:cNvSpPr>
          <p:nvPr/>
        </p:nvSpPr>
        <p:spPr>
          <a:xfrm>
            <a:off x="4419600" y="1636440"/>
            <a:ext cx="3190875" cy="285750"/>
          </a:xfrm>
          <a:prstGeom prst="rect">
            <a:avLst/>
          </a:prstGeom>
          <a:noFill/>
          <a:ln w="0">
            <a:noFill/>
            <a:prstDash val="solid"/>
          </a:ln>
        </p:spPr>
        <p:txBody>
          <a:bodyPr wrap="none" lIns="0" tIns="0" rIns="0" bIns="0" anchor="ctr">
            <a:noAutofit/>
          </a:bodyPr>
          <a:lstStyle/>
          <a:p>
            <a:pPr algn="l">
              <a:buNone/>
              <a:defRPr sz="1575" b="0">
                <a:solidFill>
                  <a:srgbClr val="142C42"/>
                </a:solidFill>
                <a:latin typeface="Arial"/>
                <a:ea typeface="Arial"/>
                <a:cs typeface="Arial"/>
              </a:defRPr>
            </a:pPr>
            <a:r>
              <a:rPr sz="1575" b="0">
                <a:solidFill>
                  <a:srgbClr val="142C42"/>
                </a:solidFill>
                <a:latin typeface="Arial"/>
                <a:ea typeface="Arial"/>
                <a:cs typeface="Arial"/>
              </a:rPr>
              <a:t>Joint longitudinal–survival models</a:t>
            </a:r>
          </a:p>
        </p:txBody>
      </p:sp>
      <p:sp>
        <p:nvSpPr>
          <p:cNvPr id="24" name="Inference &amp; assessment">
            <a:extLst>
              <a:ext uri="{FF2B5EF4-FFF2-40B4-BE49-F238E27FC236}">
                <a16:creationId xmlns:a16="http://schemas.microsoft.com/office/drawing/2014/main" id="{F358A1FB-4BEC-43E6-BB74-74D723AE9F76}"/>
              </a:ext>
            </a:extLst>
          </p:cNvPr>
          <p:cNvSpPr>
            <a:spLocks noGrp="1"/>
          </p:cNvSpPr>
          <p:nvPr/>
        </p:nvSpPr>
        <p:spPr>
          <a:xfrm>
            <a:off x="7829550" y="93390"/>
            <a:ext cx="3343275" cy="323850"/>
          </a:xfrm>
          <a:prstGeom prst="rect">
            <a:avLst/>
          </a:prstGeom>
          <a:noFill/>
          <a:ln w="0">
            <a:noFill/>
            <a:prstDash val="solid"/>
          </a:ln>
        </p:spPr>
        <p:txBody>
          <a:bodyPr wrap="none" lIns="0" tIns="0" rIns="0" bIns="0" anchor="ctr">
            <a:noAutofit/>
          </a:bodyPr>
          <a:lstStyle/>
          <a:p>
            <a:pPr algn="l">
              <a:buNone/>
              <a:defRPr sz="2025" b="1">
                <a:solidFill>
                  <a:srgbClr val="008A8C"/>
                </a:solidFill>
                <a:latin typeface="Arial"/>
                <a:ea typeface="Arial"/>
                <a:cs typeface="Arial"/>
              </a:defRPr>
            </a:pPr>
            <a:r>
              <a:rPr sz="2025" b="1">
                <a:solidFill>
                  <a:srgbClr val="008A8C"/>
                </a:solidFill>
                <a:latin typeface="Arial"/>
                <a:ea typeface="Arial"/>
                <a:cs typeface="Arial"/>
              </a:rPr>
              <a:t>Inference &amp; assessment</a:t>
            </a:r>
          </a:p>
        </p:txBody>
      </p:sp>
      <p:sp>
        <p:nvSpPr>
          <p:cNvPr id="25" name="Oval 24">
            <a:extLst>
              <a:ext uri="{FF2B5EF4-FFF2-40B4-BE49-F238E27FC236}">
                <a16:creationId xmlns:a16="http://schemas.microsoft.com/office/drawing/2014/main" id="{304B9CB3-C5A0-4CFE-BBDF-85188759D512}"/>
              </a:ext>
            </a:extLst>
          </p:cNvPr>
          <p:cNvSpPr>
            <a:spLocks noGrp="1"/>
          </p:cNvSpPr>
          <p:nvPr/>
        </p:nvSpPr>
        <p:spPr>
          <a:xfrm>
            <a:off x="7820025" y="479153"/>
            <a:ext cx="190500" cy="190500"/>
          </a:xfrm>
          <a:prstGeom prst="ellipse">
            <a:avLst/>
          </a:prstGeom>
          <a:solidFill>
            <a:srgbClr val="FFFFFF"/>
          </a:solidFill>
          <a:ln w="28575">
            <a:solidFill>
              <a:srgbClr val="008A8C"/>
            </a:solidFill>
            <a:prstDash val="solid"/>
          </a:ln>
        </p:spPr>
        <p:txBody>
          <a:bodyPr/>
          <a:lstStyle/>
          <a:p>
            <a:endParaRPr/>
          </a:p>
        </p:txBody>
      </p:sp>
      <p:sp>
        <p:nvSpPr>
          <p:cNvPr id="26" name="Straight Connector 25">
            <a:extLst>
              <a:ext uri="{FF2B5EF4-FFF2-40B4-BE49-F238E27FC236}">
                <a16:creationId xmlns:a16="http://schemas.microsoft.com/office/drawing/2014/main" id="{7F2D82AF-88D3-4084-9FAA-08E0E1615B22}"/>
              </a:ext>
            </a:extLst>
          </p:cNvPr>
          <p:cNvSpPr>
            <a:spLocks noGrp="1"/>
          </p:cNvSpPr>
          <p:nvPr/>
        </p:nvSpPr>
        <p:spPr>
          <a:xfrm>
            <a:off x="7915275" y="674415"/>
            <a:ext cx="0" cy="1104900"/>
          </a:xfrm>
          <a:prstGeom prst="line">
            <a:avLst/>
          </a:prstGeom>
          <a:noFill/>
          <a:ln w="14288">
            <a:solidFill>
              <a:srgbClr val="008A8C"/>
            </a:solidFill>
            <a:prstDash val="solid"/>
          </a:ln>
        </p:spPr>
        <p:txBody>
          <a:bodyPr/>
          <a:lstStyle/>
          <a:p>
            <a:endParaRPr/>
          </a:p>
        </p:txBody>
      </p:sp>
      <p:sp>
        <p:nvSpPr>
          <p:cNvPr id="27" name="Straight Connector 26">
            <a:extLst>
              <a:ext uri="{FF2B5EF4-FFF2-40B4-BE49-F238E27FC236}">
                <a16:creationId xmlns:a16="http://schemas.microsoft.com/office/drawing/2014/main" id="{42201C0D-314C-4BF4-9A80-6C49E3B7ABC2}"/>
              </a:ext>
            </a:extLst>
          </p:cNvPr>
          <p:cNvSpPr>
            <a:spLocks noGrp="1"/>
          </p:cNvSpPr>
          <p:nvPr/>
        </p:nvSpPr>
        <p:spPr>
          <a:xfrm>
            <a:off x="7915275" y="1036365"/>
            <a:ext cx="114300" cy="0"/>
          </a:xfrm>
          <a:prstGeom prst="line">
            <a:avLst/>
          </a:prstGeom>
          <a:noFill/>
          <a:ln w="14288">
            <a:solidFill>
              <a:srgbClr val="008A8C"/>
            </a:solidFill>
            <a:prstDash val="solid"/>
          </a:ln>
        </p:spPr>
        <p:txBody>
          <a:bodyPr/>
          <a:lstStyle/>
          <a:p>
            <a:endParaRPr/>
          </a:p>
        </p:txBody>
      </p:sp>
      <p:sp>
        <p:nvSpPr>
          <p:cNvPr id="28" name="INLA &amp; variational Bayes">
            <a:extLst>
              <a:ext uri="{FF2B5EF4-FFF2-40B4-BE49-F238E27FC236}">
                <a16:creationId xmlns:a16="http://schemas.microsoft.com/office/drawing/2014/main" id="{805DA767-63D1-4A9E-983A-817CD1B2C4F4}"/>
              </a:ext>
            </a:extLst>
          </p:cNvPr>
          <p:cNvSpPr>
            <a:spLocks noGrp="1"/>
          </p:cNvSpPr>
          <p:nvPr/>
        </p:nvSpPr>
        <p:spPr>
          <a:xfrm>
            <a:off x="8105775" y="893490"/>
            <a:ext cx="3190875" cy="285750"/>
          </a:xfrm>
          <a:prstGeom prst="rect">
            <a:avLst/>
          </a:prstGeom>
          <a:noFill/>
          <a:ln w="0">
            <a:noFill/>
            <a:prstDash val="solid"/>
          </a:ln>
        </p:spPr>
        <p:txBody>
          <a:bodyPr wrap="none" lIns="0" tIns="0" rIns="0" bIns="0" anchor="ctr">
            <a:noAutofit/>
          </a:bodyPr>
          <a:lstStyle/>
          <a:p>
            <a:pPr algn="l">
              <a:buNone/>
              <a:defRPr sz="1575" b="0">
                <a:solidFill>
                  <a:srgbClr val="142C42"/>
                </a:solidFill>
                <a:latin typeface="Arial"/>
                <a:ea typeface="Arial"/>
                <a:cs typeface="Arial"/>
              </a:defRPr>
            </a:pPr>
            <a:r>
              <a:rPr sz="1575" b="0">
                <a:solidFill>
                  <a:srgbClr val="142C42"/>
                </a:solidFill>
                <a:latin typeface="Arial"/>
                <a:ea typeface="Arial"/>
                <a:cs typeface="Arial"/>
              </a:rPr>
              <a:t>INLA &amp; variational Bayes</a:t>
            </a:r>
          </a:p>
        </p:txBody>
      </p:sp>
      <p:sp>
        <p:nvSpPr>
          <p:cNvPr id="29" name="Straight Connector 28">
            <a:extLst>
              <a:ext uri="{FF2B5EF4-FFF2-40B4-BE49-F238E27FC236}">
                <a16:creationId xmlns:a16="http://schemas.microsoft.com/office/drawing/2014/main" id="{54A5DA47-E144-4B91-8F17-F3141B3BA777}"/>
              </a:ext>
            </a:extLst>
          </p:cNvPr>
          <p:cNvSpPr>
            <a:spLocks noGrp="1"/>
          </p:cNvSpPr>
          <p:nvPr/>
        </p:nvSpPr>
        <p:spPr>
          <a:xfrm>
            <a:off x="7915275" y="1407840"/>
            <a:ext cx="114300" cy="0"/>
          </a:xfrm>
          <a:prstGeom prst="line">
            <a:avLst/>
          </a:prstGeom>
          <a:noFill/>
          <a:ln w="14288">
            <a:solidFill>
              <a:srgbClr val="008A8C"/>
            </a:solidFill>
            <a:prstDash val="solid"/>
          </a:ln>
        </p:spPr>
        <p:txBody>
          <a:bodyPr/>
          <a:lstStyle/>
          <a:p>
            <a:endParaRPr/>
          </a:p>
        </p:txBody>
      </p:sp>
      <p:sp>
        <p:nvSpPr>
          <p:cNvPr id="30" name="Cross-validation &amp; prediction">
            <a:extLst>
              <a:ext uri="{FF2B5EF4-FFF2-40B4-BE49-F238E27FC236}">
                <a16:creationId xmlns:a16="http://schemas.microsoft.com/office/drawing/2014/main" id="{63AA61F4-461B-4FCA-A63F-C10669A411EE}"/>
              </a:ext>
            </a:extLst>
          </p:cNvPr>
          <p:cNvSpPr>
            <a:spLocks noGrp="1"/>
          </p:cNvSpPr>
          <p:nvPr/>
        </p:nvSpPr>
        <p:spPr>
          <a:xfrm>
            <a:off x="8105775" y="1264965"/>
            <a:ext cx="3190875" cy="285750"/>
          </a:xfrm>
          <a:prstGeom prst="rect">
            <a:avLst/>
          </a:prstGeom>
          <a:noFill/>
          <a:ln w="0">
            <a:noFill/>
            <a:prstDash val="solid"/>
          </a:ln>
        </p:spPr>
        <p:txBody>
          <a:bodyPr wrap="none" lIns="0" tIns="0" rIns="0" bIns="0" anchor="ctr">
            <a:noAutofit/>
          </a:bodyPr>
          <a:lstStyle/>
          <a:p>
            <a:pPr algn="l">
              <a:buNone/>
              <a:defRPr sz="1575" b="0">
                <a:solidFill>
                  <a:srgbClr val="142C42"/>
                </a:solidFill>
                <a:latin typeface="Arial"/>
                <a:ea typeface="Arial"/>
                <a:cs typeface="Arial"/>
              </a:defRPr>
            </a:pPr>
            <a:r>
              <a:rPr sz="1575" b="0">
                <a:solidFill>
                  <a:srgbClr val="142C42"/>
                </a:solidFill>
                <a:latin typeface="Arial"/>
                <a:ea typeface="Arial"/>
                <a:cs typeface="Arial"/>
              </a:rPr>
              <a:t>Cross-validation &amp; prediction</a:t>
            </a:r>
          </a:p>
        </p:txBody>
      </p:sp>
      <p:sp>
        <p:nvSpPr>
          <p:cNvPr id="31" name="Straight Connector 30">
            <a:extLst>
              <a:ext uri="{FF2B5EF4-FFF2-40B4-BE49-F238E27FC236}">
                <a16:creationId xmlns:a16="http://schemas.microsoft.com/office/drawing/2014/main" id="{31B8D2CA-B61E-4F2D-BC4B-28F2DA021E24}"/>
              </a:ext>
            </a:extLst>
          </p:cNvPr>
          <p:cNvSpPr>
            <a:spLocks noGrp="1"/>
          </p:cNvSpPr>
          <p:nvPr/>
        </p:nvSpPr>
        <p:spPr>
          <a:xfrm>
            <a:off x="7915275" y="1779315"/>
            <a:ext cx="114300" cy="0"/>
          </a:xfrm>
          <a:prstGeom prst="line">
            <a:avLst/>
          </a:prstGeom>
          <a:noFill/>
          <a:ln w="14288">
            <a:solidFill>
              <a:srgbClr val="008A8C"/>
            </a:solidFill>
            <a:prstDash val="solid"/>
          </a:ln>
        </p:spPr>
        <p:txBody>
          <a:bodyPr/>
          <a:lstStyle/>
          <a:p>
            <a:endParaRPr/>
          </a:p>
        </p:txBody>
      </p:sp>
      <p:sp>
        <p:nvSpPr>
          <p:cNvPr id="32" name="Model checking &amp; robustness">
            <a:extLst>
              <a:ext uri="{FF2B5EF4-FFF2-40B4-BE49-F238E27FC236}">
                <a16:creationId xmlns:a16="http://schemas.microsoft.com/office/drawing/2014/main" id="{58D1DCD9-6E4C-4C79-BEA5-6E4C04776097}"/>
              </a:ext>
            </a:extLst>
          </p:cNvPr>
          <p:cNvSpPr>
            <a:spLocks noGrp="1"/>
          </p:cNvSpPr>
          <p:nvPr/>
        </p:nvSpPr>
        <p:spPr>
          <a:xfrm>
            <a:off x="8105775" y="1636440"/>
            <a:ext cx="3190875" cy="285750"/>
          </a:xfrm>
          <a:prstGeom prst="rect">
            <a:avLst/>
          </a:prstGeom>
          <a:noFill/>
          <a:ln w="0">
            <a:noFill/>
            <a:prstDash val="solid"/>
          </a:ln>
        </p:spPr>
        <p:txBody>
          <a:bodyPr wrap="none" lIns="0" tIns="0" rIns="0" bIns="0" anchor="ctr">
            <a:noAutofit/>
          </a:bodyPr>
          <a:lstStyle/>
          <a:p>
            <a:pPr algn="l">
              <a:buNone/>
              <a:defRPr sz="1575" b="0">
                <a:solidFill>
                  <a:srgbClr val="142C42"/>
                </a:solidFill>
                <a:latin typeface="Arial"/>
                <a:ea typeface="Arial"/>
                <a:cs typeface="Arial"/>
              </a:defRPr>
            </a:pPr>
            <a:r>
              <a:rPr sz="1575" b="0">
                <a:solidFill>
                  <a:srgbClr val="142C42"/>
                </a:solidFill>
                <a:latin typeface="Arial"/>
                <a:ea typeface="Arial"/>
                <a:cs typeface="Arial"/>
              </a:rPr>
              <a:t>Model checking &amp; robustness</a:t>
            </a:r>
          </a:p>
        </p:txBody>
      </p:sp>
      <p:sp>
        <p:nvSpPr>
          <p:cNvPr id="33" name="Scalable computation">
            <a:extLst>
              <a:ext uri="{FF2B5EF4-FFF2-40B4-BE49-F238E27FC236}">
                <a16:creationId xmlns:a16="http://schemas.microsoft.com/office/drawing/2014/main" id="{9B922138-BD39-474F-85A4-53D908EBC089}"/>
              </a:ext>
            </a:extLst>
          </p:cNvPr>
          <p:cNvSpPr>
            <a:spLocks noGrp="1"/>
          </p:cNvSpPr>
          <p:nvPr/>
        </p:nvSpPr>
        <p:spPr>
          <a:xfrm>
            <a:off x="11515725" y="93390"/>
            <a:ext cx="3343275" cy="323850"/>
          </a:xfrm>
          <a:prstGeom prst="rect">
            <a:avLst/>
          </a:prstGeom>
          <a:noFill/>
          <a:ln w="0">
            <a:noFill/>
            <a:prstDash val="solid"/>
          </a:ln>
        </p:spPr>
        <p:txBody>
          <a:bodyPr wrap="none" lIns="0" tIns="0" rIns="0" bIns="0" anchor="ctr">
            <a:noAutofit/>
          </a:bodyPr>
          <a:lstStyle/>
          <a:p>
            <a:pPr algn="l">
              <a:buNone/>
              <a:defRPr sz="2025" b="1">
                <a:solidFill>
                  <a:srgbClr val="B87521"/>
                </a:solidFill>
                <a:latin typeface="Arial"/>
                <a:ea typeface="Arial"/>
                <a:cs typeface="Arial"/>
              </a:defRPr>
            </a:pPr>
            <a:r>
              <a:rPr sz="2025" b="1">
                <a:solidFill>
                  <a:srgbClr val="B87521"/>
                </a:solidFill>
                <a:latin typeface="Arial"/>
                <a:ea typeface="Arial"/>
                <a:cs typeface="Arial"/>
              </a:rPr>
              <a:t>Scalable computation</a:t>
            </a:r>
          </a:p>
        </p:txBody>
      </p:sp>
      <p:sp>
        <p:nvSpPr>
          <p:cNvPr id="34" name="Oval 33">
            <a:extLst>
              <a:ext uri="{FF2B5EF4-FFF2-40B4-BE49-F238E27FC236}">
                <a16:creationId xmlns:a16="http://schemas.microsoft.com/office/drawing/2014/main" id="{11BE5584-1CDC-4E21-BE91-4D798988EA0F}"/>
              </a:ext>
            </a:extLst>
          </p:cNvPr>
          <p:cNvSpPr>
            <a:spLocks noGrp="1"/>
          </p:cNvSpPr>
          <p:nvPr/>
        </p:nvSpPr>
        <p:spPr>
          <a:xfrm>
            <a:off x="11506200" y="479153"/>
            <a:ext cx="190500" cy="190500"/>
          </a:xfrm>
          <a:prstGeom prst="ellipse">
            <a:avLst/>
          </a:prstGeom>
          <a:solidFill>
            <a:srgbClr val="FFFFFF"/>
          </a:solidFill>
          <a:ln w="28575">
            <a:solidFill>
              <a:srgbClr val="B87521"/>
            </a:solidFill>
            <a:prstDash val="solid"/>
          </a:ln>
        </p:spPr>
        <p:txBody>
          <a:bodyPr/>
          <a:lstStyle/>
          <a:p>
            <a:endParaRPr/>
          </a:p>
        </p:txBody>
      </p:sp>
      <p:sp>
        <p:nvSpPr>
          <p:cNvPr id="35" name="Straight Connector 34">
            <a:extLst>
              <a:ext uri="{FF2B5EF4-FFF2-40B4-BE49-F238E27FC236}">
                <a16:creationId xmlns:a16="http://schemas.microsoft.com/office/drawing/2014/main" id="{5D592A34-B05B-468B-8418-FEB9FC9EBF13}"/>
              </a:ext>
            </a:extLst>
          </p:cNvPr>
          <p:cNvSpPr>
            <a:spLocks noGrp="1"/>
          </p:cNvSpPr>
          <p:nvPr/>
        </p:nvSpPr>
        <p:spPr>
          <a:xfrm>
            <a:off x="11601450" y="674415"/>
            <a:ext cx="0" cy="1104900"/>
          </a:xfrm>
          <a:prstGeom prst="line">
            <a:avLst/>
          </a:prstGeom>
          <a:noFill/>
          <a:ln w="14288">
            <a:solidFill>
              <a:srgbClr val="B87521"/>
            </a:solidFill>
            <a:prstDash val="solid"/>
          </a:ln>
        </p:spPr>
        <p:txBody>
          <a:bodyPr/>
          <a:lstStyle/>
          <a:p>
            <a:endParaRPr/>
          </a:p>
        </p:txBody>
      </p:sp>
      <p:sp>
        <p:nvSpPr>
          <p:cNvPr id="36" name="Straight Connector 35">
            <a:extLst>
              <a:ext uri="{FF2B5EF4-FFF2-40B4-BE49-F238E27FC236}">
                <a16:creationId xmlns:a16="http://schemas.microsoft.com/office/drawing/2014/main" id="{46E9FE06-6F2B-4882-B12C-63262979C65E}"/>
              </a:ext>
            </a:extLst>
          </p:cNvPr>
          <p:cNvSpPr>
            <a:spLocks noGrp="1"/>
          </p:cNvSpPr>
          <p:nvPr/>
        </p:nvSpPr>
        <p:spPr>
          <a:xfrm>
            <a:off x="11601450" y="1036365"/>
            <a:ext cx="114300" cy="0"/>
          </a:xfrm>
          <a:prstGeom prst="line">
            <a:avLst/>
          </a:prstGeom>
          <a:noFill/>
          <a:ln w="14288">
            <a:solidFill>
              <a:srgbClr val="B87521"/>
            </a:solidFill>
            <a:prstDash val="solid"/>
          </a:ln>
        </p:spPr>
        <p:txBody>
          <a:bodyPr/>
          <a:lstStyle/>
          <a:p>
            <a:endParaRPr/>
          </a:p>
        </p:txBody>
      </p:sp>
      <p:sp>
        <p:nvSpPr>
          <p:cNvPr id="37" name="Sparse solvers">
            <a:extLst>
              <a:ext uri="{FF2B5EF4-FFF2-40B4-BE49-F238E27FC236}">
                <a16:creationId xmlns:a16="http://schemas.microsoft.com/office/drawing/2014/main" id="{EEA950A4-8E42-4606-9F0B-48232DDC8864}"/>
              </a:ext>
            </a:extLst>
          </p:cNvPr>
          <p:cNvSpPr>
            <a:spLocks noGrp="1"/>
          </p:cNvSpPr>
          <p:nvPr/>
        </p:nvSpPr>
        <p:spPr>
          <a:xfrm>
            <a:off x="11791950" y="893490"/>
            <a:ext cx="3190875" cy="285750"/>
          </a:xfrm>
          <a:prstGeom prst="rect">
            <a:avLst/>
          </a:prstGeom>
          <a:noFill/>
          <a:ln w="0">
            <a:noFill/>
            <a:prstDash val="solid"/>
          </a:ln>
        </p:spPr>
        <p:txBody>
          <a:bodyPr wrap="none" lIns="0" tIns="0" rIns="0" bIns="0" anchor="ctr">
            <a:noAutofit/>
          </a:bodyPr>
          <a:lstStyle/>
          <a:p>
            <a:pPr algn="l">
              <a:buNone/>
              <a:defRPr sz="1575" b="0">
                <a:solidFill>
                  <a:srgbClr val="142C42"/>
                </a:solidFill>
                <a:latin typeface="Arial"/>
                <a:ea typeface="Arial"/>
                <a:cs typeface="Arial"/>
              </a:defRPr>
            </a:pPr>
            <a:r>
              <a:rPr sz="1575" b="0">
                <a:solidFill>
                  <a:srgbClr val="142C42"/>
                </a:solidFill>
                <a:latin typeface="Arial"/>
                <a:ea typeface="Arial"/>
                <a:cs typeface="Arial"/>
              </a:rPr>
              <a:t>Sparse solvers</a:t>
            </a:r>
          </a:p>
        </p:txBody>
      </p:sp>
      <p:sp>
        <p:nvSpPr>
          <p:cNvPr id="38" name="Straight Connector 37">
            <a:extLst>
              <a:ext uri="{FF2B5EF4-FFF2-40B4-BE49-F238E27FC236}">
                <a16:creationId xmlns:a16="http://schemas.microsoft.com/office/drawing/2014/main" id="{B890E1A8-DCCA-46B8-896C-80A8F36D132F}"/>
              </a:ext>
            </a:extLst>
          </p:cNvPr>
          <p:cNvSpPr>
            <a:spLocks noGrp="1"/>
          </p:cNvSpPr>
          <p:nvPr/>
        </p:nvSpPr>
        <p:spPr>
          <a:xfrm>
            <a:off x="11601450" y="1407840"/>
            <a:ext cx="114300" cy="0"/>
          </a:xfrm>
          <a:prstGeom prst="line">
            <a:avLst/>
          </a:prstGeom>
          <a:noFill/>
          <a:ln w="14288">
            <a:solidFill>
              <a:srgbClr val="B87521"/>
            </a:solidFill>
            <a:prstDash val="solid"/>
          </a:ln>
        </p:spPr>
        <p:txBody>
          <a:bodyPr/>
          <a:lstStyle/>
          <a:p>
            <a:endParaRPr/>
          </a:p>
        </p:txBody>
      </p:sp>
      <p:sp>
        <p:nvSpPr>
          <p:cNvPr id="39" name="Automatic differentiation">
            <a:extLst>
              <a:ext uri="{FF2B5EF4-FFF2-40B4-BE49-F238E27FC236}">
                <a16:creationId xmlns:a16="http://schemas.microsoft.com/office/drawing/2014/main" id="{4D46FD86-51FD-4C22-9A4D-96692BD89E33}"/>
              </a:ext>
            </a:extLst>
          </p:cNvPr>
          <p:cNvSpPr>
            <a:spLocks noGrp="1"/>
          </p:cNvSpPr>
          <p:nvPr/>
        </p:nvSpPr>
        <p:spPr>
          <a:xfrm>
            <a:off x="11791950" y="1264965"/>
            <a:ext cx="3190875" cy="285750"/>
          </a:xfrm>
          <a:prstGeom prst="rect">
            <a:avLst/>
          </a:prstGeom>
          <a:noFill/>
          <a:ln w="0">
            <a:noFill/>
            <a:prstDash val="solid"/>
          </a:ln>
        </p:spPr>
        <p:txBody>
          <a:bodyPr wrap="none" lIns="0" tIns="0" rIns="0" bIns="0" anchor="ctr">
            <a:noAutofit/>
          </a:bodyPr>
          <a:lstStyle/>
          <a:p>
            <a:pPr algn="l">
              <a:buNone/>
              <a:defRPr sz="1575" b="0">
                <a:solidFill>
                  <a:srgbClr val="142C42"/>
                </a:solidFill>
                <a:latin typeface="Arial"/>
                <a:ea typeface="Arial"/>
                <a:cs typeface="Arial"/>
              </a:defRPr>
            </a:pPr>
            <a:r>
              <a:rPr sz="1575" b="0">
                <a:solidFill>
                  <a:srgbClr val="142C42"/>
                </a:solidFill>
                <a:latin typeface="Arial"/>
                <a:ea typeface="Arial"/>
                <a:cs typeface="Arial"/>
              </a:rPr>
              <a:t>Automatic differentiation</a:t>
            </a:r>
          </a:p>
        </p:txBody>
      </p:sp>
      <p:sp>
        <p:nvSpPr>
          <p:cNvPr id="40" name="Straight Connector 39">
            <a:extLst>
              <a:ext uri="{FF2B5EF4-FFF2-40B4-BE49-F238E27FC236}">
                <a16:creationId xmlns:a16="http://schemas.microsoft.com/office/drawing/2014/main" id="{A9C97784-903C-4765-A246-CB92E55018A4}"/>
              </a:ext>
            </a:extLst>
          </p:cNvPr>
          <p:cNvSpPr>
            <a:spLocks noGrp="1"/>
          </p:cNvSpPr>
          <p:nvPr/>
        </p:nvSpPr>
        <p:spPr>
          <a:xfrm>
            <a:off x="11601450" y="1779315"/>
            <a:ext cx="114300" cy="0"/>
          </a:xfrm>
          <a:prstGeom prst="line">
            <a:avLst/>
          </a:prstGeom>
          <a:noFill/>
          <a:ln w="14288">
            <a:solidFill>
              <a:srgbClr val="B87521"/>
            </a:solidFill>
            <a:prstDash val="solid"/>
          </a:ln>
        </p:spPr>
        <p:txBody>
          <a:bodyPr/>
          <a:lstStyle/>
          <a:p>
            <a:endParaRPr/>
          </a:p>
        </p:txBody>
      </p:sp>
      <p:sp>
        <p:nvSpPr>
          <p:cNvPr id="41" name="GPU &amp; distributed computing">
            <a:extLst>
              <a:ext uri="{FF2B5EF4-FFF2-40B4-BE49-F238E27FC236}">
                <a16:creationId xmlns:a16="http://schemas.microsoft.com/office/drawing/2014/main" id="{3530DB5B-1E83-4284-B970-A511D5B10C8C}"/>
              </a:ext>
            </a:extLst>
          </p:cNvPr>
          <p:cNvSpPr>
            <a:spLocks noGrp="1"/>
          </p:cNvSpPr>
          <p:nvPr/>
        </p:nvSpPr>
        <p:spPr>
          <a:xfrm>
            <a:off x="11791950" y="1636440"/>
            <a:ext cx="3190875" cy="285750"/>
          </a:xfrm>
          <a:prstGeom prst="rect">
            <a:avLst/>
          </a:prstGeom>
          <a:noFill/>
          <a:ln w="0">
            <a:noFill/>
            <a:prstDash val="solid"/>
          </a:ln>
        </p:spPr>
        <p:txBody>
          <a:bodyPr wrap="none" lIns="0" tIns="0" rIns="0" bIns="0" anchor="ctr">
            <a:noAutofit/>
          </a:bodyPr>
          <a:lstStyle/>
          <a:p>
            <a:pPr algn="l">
              <a:buNone/>
              <a:defRPr sz="1575" b="0">
                <a:solidFill>
                  <a:srgbClr val="142C42"/>
                </a:solidFill>
                <a:latin typeface="Arial"/>
                <a:ea typeface="Arial"/>
                <a:cs typeface="Arial"/>
              </a:defRPr>
            </a:pPr>
            <a:r>
              <a:rPr sz="1575" b="0">
                <a:solidFill>
                  <a:srgbClr val="142C42"/>
                </a:solidFill>
                <a:latin typeface="Arial"/>
                <a:ea typeface="Arial"/>
                <a:cs typeface="Arial"/>
              </a:rPr>
              <a:t>GPU &amp; distributed computing</a:t>
            </a:r>
          </a:p>
        </p:txBody>
      </p:sp>
      <p:sp>
        <p:nvSpPr>
          <p:cNvPr id="42" name="Straight Connector 41">
            <a:extLst>
              <a:ext uri="{FF2B5EF4-FFF2-40B4-BE49-F238E27FC236}">
                <a16:creationId xmlns:a16="http://schemas.microsoft.com/office/drawing/2014/main" id="{89AD57B3-2EFC-4C7F-B0CC-6DA66F6F9CBD}"/>
              </a:ext>
            </a:extLst>
          </p:cNvPr>
          <p:cNvSpPr>
            <a:spLocks noGrp="1"/>
          </p:cNvSpPr>
          <p:nvPr/>
        </p:nvSpPr>
        <p:spPr>
          <a:xfrm>
            <a:off x="542925" y="2131740"/>
            <a:ext cx="14154150" cy="0"/>
          </a:xfrm>
          <a:prstGeom prst="line">
            <a:avLst/>
          </a:prstGeom>
          <a:noFill/>
          <a:ln w="11430">
            <a:solidFill>
              <a:srgbClr val="B3C1CC"/>
            </a:solidFill>
            <a:prstDash val="solid"/>
          </a:ln>
        </p:spPr>
        <p:txBody>
          <a:bodyPr/>
          <a:lstStyle/>
          <a:p>
            <a:endParaRPr/>
          </a:p>
        </p:txBody>
      </p:sp>
      <p:sp>
        <p:nvSpPr>
          <p:cNvPr id="43" name="Straight Connector 42">
            <a:extLst>
              <a:ext uri="{FF2B5EF4-FFF2-40B4-BE49-F238E27FC236}">
                <a16:creationId xmlns:a16="http://schemas.microsoft.com/office/drawing/2014/main" id="{519BA76A-C7BD-46FF-B625-83C3821C54A3}"/>
              </a:ext>
            </a:extLst>
          </p:cNvPr>
          <p:cNvSpPr>
            <a:spLocks noGrp="1"/>
          </p:cNvSpPr>
          <p:nvPr/>
        </p:nvSpPr>
        <p:spPr>
          <a:xfrm>
            <a:off x="542925" y="2055540"/>
            <a:ext cx="0" cy="76200"/>
          </a:xfrm>
          <a:prstGeom prst="line">
            <a:avLst/>
          </a:prstGeom>
          <a:noFill/>
          <a:ln w="11430">
            <a:solidFill>
              <a:srgbClr val="B3C1CC"/>
            </a:solidFill>
            <a:prstDash val="solid"/>
          </a:ln>
        </p:spPr>
        <p:txBody>
          <a:bodyPr/>
          <a:lstStyle/>
          <a:p>
            <a:endParaRPr/>
          </a:p>
        </p:txBody>
      </p:sp>
      <p:sp>
        <p:nvSpPr>
          <p:cNvPr id="44" name="Straight Connector 43">
            <a:extLst>
              <a:ext uri="{FF2B5EF4-FFF2-40B4-BE49-F238E27FC236}">
                <a16:creationId xmlns:a16="http://schemas.microsoft.com/office/drawing/2014/main" id="{9ACEC7C9-11A3-4A72-8BF8-96E5ACE46B4F}"/>
              </a:ext>
            </a:extLst>
          </p:cNvPr>
          <p:cNvSpPr>
            <a:spLocks noGrp="1"/>
          </p:cNvSpPr>
          <p:nvPr/>
        </p:nvSpPr>
        <p:spPr>
          <a:xfrm>
            <a:off x="4229100" y="2055540"/>
            <a:ext cx="0" cy="76200"/>
          </a:xfrm>
          <a:prstGeom prst="line">
            <a:avLst/>
          </a:prstGeom>
          <a:noFill/>
          <a:ln w="11430">
            <a:solidFill>
              <a:srgbClr val="B3C1CC"/>
            </a:solidFill>
            <a:prstDash val="solid"/>
          </a:ln>
        </p:spPr>
        <p:txBody>
          <a:bodyPr/>
          <a:lstStyle/>
          <a:p>
            <a:endParaRPr/>
          </a:p>
        </p:txBody>
      </p:sp>
      <p:sp>
        <p:nvSpPr>
          <p:cNvPr id="45" name="Straight Connector 44">
            <a:extLst>
              <a:ext uri="{FF2B5EF4-FFF2-40B4-BE49-F238E27FC236}">
                <a16:creationId xmlns:a16="http://schemas.microsoft.com/office/drawing/2014/main" id="{38216476-A299-4F3B-A3F9-90208D0AEA71}"/>
              </a:ext>
            </a:extLst>
          </p:cNvPr>
          <p:cNvSpPr>
            <a:spLocks noGrp="1"/>
          </p:cNvSpPr>
          <p:nvPr/>
        </p:nvSpPr>
        <p:spPr>
          <a:xfrm>
            <a:off x="7915275" y="2055540"/>
            <a:ext cx="0" cy="76200"/>
          </a:xfrm>
          <a:prstGeom prst="line">
            <a:avLst/>
          </a:prstGeom>
          <a:noFill/>
          <a:ln w="11430">
            <a:solidFill>
              <a:srgbClr val="B3C1CC"/>
            </a:solidFill>
            <a:prstDash val="solid"/>
          </a:ln>
        </p:spPr>
        <p:txBody>
          <a:bodyPr/>
          <a:lstStyle/>
          <a:p>
            <a:endParaRPr/>
          </a:p>
        </p:txBody>
      </p:sp>
      <p:sp>
        <p:nvSpPr>
          <p:cNvPr id="46" name="Straight Connector 45">
            <a:extLst>
              <a:ext uri="{FF2B5EF4-FFF2-40B4-BE49-F238E27FC236}">
                <a16:creationId xmlns:a16="http://schemas.microsoft.com/office/drawing/2014/main" id="{2229ED9B-50C9-4C0A-87DF-BCE37C90C5A4}"/>
              </a:ext>
            </a:extLst>
          </p:cNvPr>
          <p:cNvSpPr>
            <a:spLocks noGrp="1"/>
          </p:cNvSpPr>
          <p:nvPr/>
        </p:nvSpPr>
        <p:spPr>
          <a:xfrm>
            <a:off x="11601450" y="2055540"/>
            <a:ext cx="0" cy="76200"/>
          </a:xfrm>
          <a:prstGeom prst="line">
            <a:avLst/>
          </a:prstGeom>
          <a:noFill/>
          <a:ln w="11430">
            <a:solidFill>
              <a:srgbClr val="B3C1CC"/>
            </a:solidFill>
            <a:prstDash val="solid"/>
          </a:ln>
        </p:spPr>
        <p:txBody>
          <a:bodyPr/>
          <a:lstStyle/>
          <a:p>
            <a:endParaRPr/>
          </a:p>
        </p:txBody>
      </p:sp>
      <p:sp>
        <p:nvSpPr>
          <p:cNvPr id="52" name="Rectangle 51">
            <a:extLst>
              <a:ext uri="{FF2B5EF4-FFF2-40B4-BE49-F238E27FC236}">
                <a16:creationId xmlns:a16="http://schemas.microsoft.com/office/drawing/2014/main" id="{61F04A81-1171-46AE-8238-F198C0996084}"/>
              </a:ext>
            </a:extLst>
          </p:cNvPr>
          <p:cNvSpPr>
            <a:spLocks noGrp="1"/>
          </p:cNvSpPr>
          <p:nvPr/>
        </p:nvSpPr>
        <p:spPr>
          <a:xfrm>
            <a:off x="533400" y="2470068"/>
            <a:ext cx="14325600" cy="1531911"/>
          </a:xfrm>
          <a:prstGeom prst="rect">
            <a:avLst/>
          </a:prstGeom>
          <a:solidFill>
            <a:srgbClr val="F0F5F7"/>
          </a:solidFill>
          <a:ln w="0">
            <a:noFill/>
            <a:prstDash val="solid"/>
          </a:ln>
        </p:spPr>
        <p:txBody>
          <a:bodyPr/>
          <a:lstStyle/>
          <a:p>
            <a:pPr marL="0" algn="l" defTabSz="914400" rtl="0">
              <a:buNone/>
            </a:pPr>
            <a:endParaRPr/>
          </a:p>
        </p:txBody>
      </p:sp>
      <p:sp>
        <p:nvSpPr>
          <p:cNvPr id="53" name="APPLICATIONS">
            <a:extLst>
              <a:ext uri="{FF2B5EF4-FFF2-40B4-BE49-F238E27FC236}">
                <a16:creationId xmlns:a16="http://schemas.microsoft.com/office/drawing/2014/main" id="{51ECD2DE-A4A4-4E93-85BE-B418A706300A}"/>
              </a:ext>
            </a:extLst>
          </p:cNvPr>
          <p:cNvSpPr>
            <a:spLocks noGrp="1"/>
          </p:cNvSpPr>
          <p:nvPr/>
        </p:nvSpPr>
        <p:spPr>
          <a:xfrm>
            <a:off x="1056500" y="2982271"/>
            <a:ext cx="1685925" cy="593371"/>
          </a:xfrm>
          <a:prstGeom prst="rect">
            <a:avLst/>
          </a:prstGeom>
          <a:noFill/>
          <a:ln w="0">
            <a:noFill/>
            <a:prstDash val="solid"/>
          </a:ln>
        </p:spPr>
        <p:txBody>
          <a:bodyPr wrap="none" lIns="0" tIns="0" rIns="0" bIns="0" anchor="ctr">
            <a:noAutofit/>
          </a:bodyPr>
          <a:lstStyle/>
          <a:p>
            <a:pPr algn="l">
              <a:buNone/>
              <a:defRPr sz="1425" b="1">
                <a:solidFill>
                  <a:srgbClr val="142C42"/>
                </a:solidFill>
                <a:latin typeface="Arial"/>
                <a:ea typeface="Arial"/>
                <a:cs typeface="Arial"/>
              </a:defRPr>
            </a:pPr>
            <a:r>
              <a:rPr sz="1600" b="1" dirty="0">
                <a:solidFill>
                  <a:srgbClr val="142C42"/>
                </a:solidFill>
                <a:latin typeface="Arial"/>
                <a:ea typeface="Arial"/>
                <a:cs typeface="Arial"/>
              </a:rPr>
              <a:t>APPLICATIONS</a:t>
            </a:r>
          </a:p>
        </p:txBody>
      </p:sp>
      <p:cxnSp>
        <p:nvCxnSpPr>
          <p:cNvPr id="126" name="Straight Arrow Connector 59"/>
          <p:cNvCxnSpPr/>
          <p:nvPr/>
        </p:nvCxnSpPr>
        <p:spPr>
          <a:xfrm>
            <a:off x="7589322" y="2131740"/>
            <a:ext cx="0" cy="338328"/>
          </a:xfrm>
          <a:prstGeom prst="straightConnector1">
            <a:avLst/>
          </a:prstGeom>
          <a:ln>
            <a:solidFill>
              <a:schemeClr val="bg1">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1" name="Application: Education">
            <a:extLst>
              <a:ext uri="{FF2B5EF4-FFF2-40B4-BE49-F238E27FC236}">
                <a16:creationId xmlns:a16="http://schemas.microsoft.com/office/drawing/2014/main" id="{486050E1-A879-49A6-AE25-FEA24146CD05}"/>
              </a:ext>
            </a:extLst>
          </p:cNvPr>
          <p:cNvSpPr>
            <a:spLocks noGrp="1"/>
          </p:cNvSpPr>
          <p:nvPr/>
        </p:nvSpPr>
        <p:spPr>
          <a:xfrm>
            <a:off x="3800475" y="2612752"/>
            <a:ext cx="1685925" cy="400050"/>
          </a:xfrm>
          <a:prstGeom prst="rect">
            <a:avLst/>
          </a:prstGeom>
          <a:noFill/>
          <a:ln w="0">
            <a:noFill/>
          </a:ln>
        </p:spPr>
        <p:txBody>
          <a:bodyPr wrap="none" lIns="0" tIns="0" rIns="0" bIns="0" anchor="ctr">
            <a:noAutofit/>
          </a:bodyPr>
          <a:lstStyle/>
          <a:p>
            <a:pPr algn="l">
              <a:defRPr sz="2400" b="1">
                <a:solidFill>
                  <a:srgbClr val="6356A4"/>
                </a:solidFill>
                <a:latin typeface="Arial"/>
                <a:ea typeface="Arial"/>
                <a:cs typeface="Arial"/>
              </a:defRPr>
            </a:pPr>
            <a:r>
              <a:rPr sz="2400" b="1" dirty="0">
                <a:solidFill>
                  <a:srgbClr val="6356A4"/>
                </a:solidFill>
                <a:latin typeface="Arial"/>
                <a:ea typeface="Arial"/>
                <a:cs typeface="Arial"/>
              </a:rPr>
              <a:t>Education</a:t>
            </a:r>
          </a:p>
        </p:txBody>
      </p:sp>
      <p:sp>
        <p:nvSpPr>
          <p:cNvPr id="62" name="Application: fMRI">
            <a:extLst>
              <a:ext uri="{FF2B5EF4-FFF2-40B4-BE49-F238E27FC236}">
                <a16:creationId xmlns:a16="http://schemas.microsoft.com/office/drawing/2014/main" id="{029E5E69-2E77-4AAB-85F4-E412FF137621}"/>
              </a:ext>
            </a:extLst>
          </p:cNvPr>
          <p:cNvSpPr>
            <a:spLocks noGrp="1"/>
          </p:cNvSpPr>
          <p:nvPr/>
        </p:nvSpPr>
        <p:spPr>
          <a:xfrm>
            <a:off x="5476875" y="2631187"/>
            <a:ext cx="742950" cy="352425"/>
          </a:xfrm>
          <a:prstGeom prst="rect">
            <a:avLst/>
          </a:prstGeom>
          <a:noFill/>
          <a:ln w="0">
            <a:noFill/>
          </a:ln>
        </p:spPr>
        <p:txBody>
          <a:bodyPr wrap="none" lIns="0" tIns="0" rIns="0" bIns="0" anchor="ctr">
            <a:noAutofit/>
          </a:bodyPr>
          <a:lstStyle/>
          <a:p>
            <a:pPr algn="l">
              <a:defRPr sz="2175" b="1">
                <a:solidFill>
                  <a:srgbClr val="286DA0"/>
                </a:solidFill>
                <a:latin typeface="Arial"/>
                <a:ea typeface="Arial"/>
                <a:cs typeface="Arial"/>
              </a:defRPr>
            </a:pPr>
            <a:r>
              <a:rPr sz="2175" b="1" dirty="0">
                <a:solidFill>
                  <a:srgbClr val="286DA0"/>
                </a:solidFill>
                <a:latin typeface="Arial"/>
                <a:ea typeface="Arial"/>
                <a:cs typeface="Arial"/>
              </a:rPr>
              <a:t>fMRI</a:t>
            </a:r>
          </a:p>
        </p:txBody>
      </p:sp>
      <p:sp>
        <p:nvSpPr>
          <p:cNvPr id="63" name="Application: Healthcare">
            <a:extLst>
              <a:ext uri="{FF2B5EF4-FFF2-40B4-BE49-F238E27FC236}">
                <a16:creationId xmlns:a16="http://schemas.microsoft.com/office/drawing/2014/main" id="{FF6DDB68-61DC-44FB-9983-DA62B7ACCC5D}"/>
              </a:ext>
            </a:extLst>
          </p:cNvPr>
          <p:cNvSpPr>
            <a:spLocks noGrp="1"/>
          </p:cNvSpPr>
          <p:nvPr/>
        </p:nvSpPr>
        <p:spPr>
          <a:xfrm>
            <a:off x="6296025" y="2586842"/>
            <a:ext cx="2019300" cy="432000"/>
          </a:xfrm>
          <a:prstGeom prst="rect">
            <a:avLst/>
          </a:prstGeom>
          <a:noFill/>
          <a:ln w="0">
            <a:noFill/>
          </a:ln>
        </p:spPr>
        <p:txBody>
          <a:bodyPr wrap="none" lIns="0" tIns="0" rIns="0" bIns="0" anchor="ctr">
            <a:noAutofit/>
          </a:bodyPr>
          <a:lstStyle/>
          <a:p>
            <a:pPr algn="l">
              <a:defRPr sz="2625" b="1">
                <a:solidFill>
                  <a:srgbClr val="286DA0"/>
                </a:solidFill>
                <a:latin typeface="Arial"/>
                <a:ea typeface="Arial"/>
                <a:cs typeface="Arial"/>
              </a:defRPr>
            </a:pPr>
            <a:r>
              <a:rPr sz="2625" b="1" dirty="0">
                <a:solidFill>
                  <a:srgbClr val="286DA0"/>
                </a:solidFill>
                <a:latin typeface="Arial"/>
                <a:ea typeface="Arial"/>
                <a:cs typeface="Arial"/>
              </a:rPr>
              <a:t>Healthcare</a:t>
            </a:r>
          </a:p>
        </p:txBody>
      </p:sp>
      <p:sp>
        <p:nvSpPr>
          <p:cNvPr id="64" name="Application: Ecology">
            <a:extLst>
              <a:ext uri="{FF2B5EF4-FFF2-40B4-BE49-F238E27FC236}">
                <a16:creationId xmlns:a16="http://schemas.microsoft.com/office/drawing/2014/main" id="{01D1A553-2AB3-4AB0-AF60-183E61B4ED74}"/>
              </a:ext>
            </a:extLst>
          </p:cNvPr>
          <p:cNvSpPr>
            <a:spLocks noGrp="1"/>
          </p:cNvSpPr>
          <p:nvPr/>
        </p:nvSpPr>
        <p:spPr>
          <a:xfrm>
            <a:off x="8222425" y="2641327"/>
            <a:ext cx="1295400" cy="352425"/>
          </a:xfrm>
          <a:prstGeom prst="rect">
            <a:avLst/>
          </a:prstGeom>
          <a:noFill/>
          <a:ln w="0">
            <a:noFill/>
          </a:ln>
        </p:spPr>
        <p:txBody>
          <a:bodyPr wrap="none" lIns="0" tIns="0" rIns="0" bIns="0" anchor="ctr">
            <a:noAutofit/>
          </a:bodyPr>
          <a:lstStyle/>
          <a:p>
            <a:pPr algn="l">
              <a:defRPr sz="2175" b="1">
                <a:solidFill>
                  <a:srgbClr val="008A8C"/>
                </a:solidFill>
                <a:latin typeface="Arial"/>
                <a:ea typeface="Arial"/>
                <a:cs typeface="Arial"/>
              </a:defRPr>
            </a:pPr>
            <a:r>
              <a:rPr sz="2175" b="1" dirty="0">
                <a:solidFill>
                  <a:srgbClr val="008A8C"/>
                </a:solidFill>
                <a:latin typeface="Arial"/>
                <a:ea typeface="Arial"/>
                <a:cs typeface="Arial"/>
              </a:rPr>
              <a:t>Ecology</a:t>
            </a:r>
          </a:p>
        </p:txBody>
      </p:sp>
      <p:sp>
        <p:nvSpPr>
          <p:cNvPr id="65" name="Application: Climate">
            <a:extLst>
              <a:ext uri="{FF2B5EF4-FFF2-40B4-BE49-F238E27FC236}">
                <a16:creationId xmlns:a16="http://schemas.microsoft.com/office/drawing/2014/main" id="{D8A15C55-ABBC-478C-AC47-C1C77D60B4E2}"/>
              </a:ext>
            </a:extLst>
          </p:cNvPr>
          <p:cNvSpPr>
            <a:spLocks noGrp="1"/>
          </p:cNvSpPr>
          <p:nvPr/>
        </p:nvSpPr>
        <p:spPr>
          <a:xfrm>
            <a:off x="9517825" y="2665521"/>
            <a:ext cx="1123950" cy="333375"/>
          </a:xfrm>
          <a:prstGeom prst="rect">
            <a:avLst/>
          </a:prstGeom>
          <a:noFill/>
          <a:ln w="0">
            <a:noFill/>
          </a:ln>
        </p:spPr>
        <p:txBody>
          <a:bodyPr wrap="none" lIns="0" tIns="0" rIns="0" bIns="0" anchor="ctr">
            <a:noAutofit/>
          </a:bodyPr>
          <a:lstStyle/>
          <a:p>
            <a:pPr algn="l">
              <a:defRPr sz="2025" b="1">
                <a:solidFill>
                  <a:srgbClr val="A46B25"/>
                </a:solidFill>
                <a:latin typeface="Arial"/>
                <a:ea typeface="Arial"/>
                <a:cs typeface="Arial"/>
              </a:defRPr>
            </a:pPr>
            <a:r>
              <a:rPr sz="2025" b="1" dirty="0">
                <a:solidFill>
                  <a:srgbClr val="A46B25"/>
                </a:solidFill>
                <a:latin typeface="Arial"/>
                <a:ea typeface="Arial"/>
                <a:cs typeface="Arial"/>
              </a:rPr>
              <a:t>Climate</a:t>
            </a:r>
          </a:p>
        </p:txBody>
      </p:sp>
      <p:sp>
        <p:nvSpPr>
          <p:cNvPr id="66" name="Application: Air pollution">
            <a:extLst>
              <a:ext uri="{FF2B5EF4-FFF2-40B4-BE49-F238E27FC236}">
                <a16:creationId xmlns:a16="http://schemas.microsoft.com/office/drawing/2014/main" id="{0DB6899D-C10F-4392-A178-E5ECC534DD34}"/>
              </a:ext>
            </a:extLst>
          </p:cNvPr>
          <p:cNvSpPr>
            <a:spLocks noGrp="1"/>
          </p:cNvSpPr>
          <p:nvPr/>
        </p:nvSpPr>
        <p:spPr>
          <a:xfrm>
            <a:off x="10641775" y="2650677"/>
            <a:ext cx="1381125" cy="333375"/>
          </a:xfrm>
          <a:prstGeom prst="rect">
            <a:avLst/>
          </a:prstGeom>
          <a:noFill/>
          <a:ln w="0">
            <a:noFill/>
          </a:ln>
        </p:spPr>
        <p:txBody>
          <a:bodyPr wrap="none" lIns="0" tIns="0" rIns="0" bIns="0" anchor="ctr">
            <a:noAutofit/>
          </a:bodyPr>
          <a:lstStyle/>
          <a:p>
            <a:pPr algn="l">
              <a:defRPr sz="1800" b="0">
                <a:solidFill>
                  <a:srgbClr val="526576"/>
                </a:solidFill>
                <a:latin typeface="Arial"/>
                <a:ea typeface="Arial"/>
                <a:cs typeface="Arial"/>
              </a:defRPr>
            </a:pPr>
            <a:r>
              <a:rPr sz="1800" b="0" dirty="0">
                <a:solidFill>
                  <a:srgbClr val="526576"/>
                </a:solidFill>
                <a:latin typeface="Arial"/>
                <a:ea typeface="Arial"/>
                <a:cs typeface="Arial"/>
              </a:rPr>
              <a:t>Air pollution</a:t>
            </a:r>
          </a:p>
        </p:txBody>
      </p:sp>
      <p:sp>
        <p:nvSpPr>
          <p:cNvPr id="67" name="Application: Coral reefs">
            <a:extLst>
              <a:ext uri="{FF2B5EF4-FFF2-40B4-BE49-F238E27FC236}">
                <a16:creationId xmlns:a16="http://schemas.microsoft.com/office/drawing/2014/main" id="{31D52851-38A3-4369-8109-DA0674DF285F}"/>
              </a:ext>
            </a:extLst>
          </p:cNvPr>
          <p:cNvSpPr>
            <a:spLocks noGrp="1"/>
          </p:cNvSpPr>
          <p:nvPr/>
        </p:nvSpPr>
        <p:spPr>
          <a:xfrm>
            <a:off x="11989067" y="2700163"/>
            <a:ext cx="1323975" cy="276225"/>
          </a:xfrm>
          <a:prstGeom prst="rect">
            <a:avLst/>
          </a:prstGeom>
          <a:noFill/>
          <a:ln w="0">
            <a:noFill/>
          </a:ln>
        </p:spPr>
        <p:txBody>
          <a:bodyPr wrap="none" lIns="0" tIns="0" rIns="0" bIns="0" anchor="ctr">
            <a:noAutofit/>
          </a:bodyPr>
          <a:lstStyle/>
          <a:p>
            <a:pPr algn="l">
              <a:defRPr sz="1575" b="0">
                <a:solidFill>
                  <a:srgbClr val="008A8C"/>
                </a:solidFill>
                <a:latin typeface="Arial"/>
                <a:ea typeface="Arial"/>
                <a:cs typeface="Arial"/>
              </a:defRPr>
            </a:pPr>
            <a:r>
              <a:rPr sz="1575" b="0" dirty="0">
                <a:solidFill>
                  <a:srgbClr val="008A8C"/>
                </a:solidFill>
                <a:latin typeface="Arial"/>
                <a:ea typeface="Arial"/>
                <a:cs typeface="Arial"/>
              </a:rPr>
              <a:t>Coral reefs</a:t>
            </a:r>
          </a:p>
        </p:txBody>
      </p:sp>
      <p:sp>
        <p:nvSpPr>
          <p:cNvPr id="68" name="Application: Psychology">
            <a:extLst>
              <a:ext uri="{FF2B5EF4-FFF2-40B4-BE49-F238E27FC236}">
                <a16:creationId xmlns:a16="http://schemas.microsoft.com/office/drawing/2014/main" id="{A3614CDE-FA83-4F68-AA17-E9183B26553C}"/>
              </a:ext>
            </a:extLst>
          </p:cNvPr>
          <p:cNvSpPr>
            <a:spLocks noGrp="1"/>
          </p:cNvSpPr>
          <p:nvPr/>
        </p:nvSpPr>
        <p:spPr>
          <a:xfrm>
            <a:off x="3428350" y="3067169"/>
            <a:ext cx="1771650" cy="381000"/>
          </a:xfrm>
          <a:prstGeom prst="rect">
            <a:avLst/>
          </a:prstGeom>
          <a:noFill/>
          <a:ln w="0">
            <a:noFill/>
          </a:ln>
        </p:spPr>
        <p:txBody>
          <a:bodyPr wrap="none" lIns="0" tIns="0" rIns="0" bIns="0" anchor="ctr">
            <a:noAutofit/>
          </a:bodyPr>
          <a:lstStyle/>
          <a:p>
            <a:pPr algn="l">
              <a:defRPr sz="2250" b="1">
                <a:solidFill>
                  <a:srgbClr val="6356A4"/>
                </a:solidFill>
                <a:latin typeface="Arial"/>
                <a:ea typeface="Arial"/>
                <a:cs typeface="Arial"/>
              </a:defRPr>
            </a:pPr>
            <a:r>
              <a:rPr sz="2250" b="1" dirty="0">
                <a:solidFill>
                  <a:srgbClr val="6356A4"/>
                </a:solidFill>
                <a:latin typeface="Arial"/>
                <a:ea typeface="Arial"/>
                <a:cs typeface="Arial"/>
              </a:rPr>
              <a:t>Psychology</a:t>
            </a:r>
          </a:p>
        </p:txBody>
      </p:sp>
      <p:sp>
        <p:nvSpPr>
          <p:cNvPr id="69" name="Application: Neuroscience">
            <a:extLst>
              <a:ext uri="{FF2B5EF4-FFF2-40B4-BE49-F238E27FC236}">
                <a16:creationId xmlns:a16="http://schemas.microsoft.com/office/drawing/2014/main" id="{B8818627-FFF0-47F8-9F94-7A2AAD4DBF9A}"/>
              </a:ext>
            </a:extLst>
          </p:cNvPr>
          <p:cNvSpPr>
            <a:spLocks noGrp="1"/>
          </p:cNvSpPr>
          <p:nvPr/>
        </p:nvSpPr>
        <p:spPr>
          <a:xfrm>
            <a:off x="5213700" y="3121196"/>
            <a:ext cx="1476375" cy="323850"/>
          </a:xfrm>
          <a:prstGeom prst="rect">
            <a:avLst/>
          </a:prstGeom>
          <a:noFill/>
          <a:ln w="0">
            <a:noFill/>
          </a:ln>
        </p:spPr>
        <p:txBody>
          <a:bodyPr wrap="none" lIns="0" tIns="0" rIns="0" bIns="0" anchor="ctr">
            <a:noAutofit/>
          </a:bodyPr>
          <a:lstStyle/>
          <a:p>
            <a:pPr algn="l">
              <a:defRPr sz="1725" b="0">
                <a:solidFill>
                  <a:srgbClr val="526576"/>
                </a:solidFill>
                <a:latin typeface="Arial"/>
                <a:ea typeface="Arial"/>
                <a:cs typeface="Arial"/>
              </a:defRPr>
            </a:pPr>
            <a:r>
              <a:rPr sz="1725" b="0" dirty="0">
                <a:solidFill>
                  <a:srgbClr val="526576"/>
                </a:solidFill>
                <a:latin typeface="Arial"/>
                <a:ea typeface="Arial"/>
                <a:cs typeface="Arial"/>
              </a:rPr>
              <a:t>Neuroscience</a:t>
            </a:r>
          </a:p>
        </p:txBody>
      </p:sp>
      <p:sp>
        <p:nvSpPr>
          <p:cNvPr id="70" name="Application: Public health">
            <a:extLst>
              <a:ext uri="{FF2B5EF4-FFF2-40B4-BE49-F238E27FC236}">
                <a16:creationId xmlns:a16="http://schemas.microsoft.com/office/drawing/2014/main" id="{D2D3CAA5-9500-4AD4-A0E9-9A8E81FA2627}"/>
              </a:ext>
            </a:extLst>
          </p:cNvPr>
          <p:cNvSpPr>
            <a:spLocks noGrp="1"/>
          </p:cNvSpPr>
          <p:nvPr/>
        </p:nvSpPr>
        <p:spPr>
          <a:xfrm>
            <a:off x="6717475" y="3134711"/>
            <a:ext cx="1390650" cy="314325"/>
          </a:xfrm>
          <a:prstGeom prst="rect">
            <a:avLst/>
          </a:prstGeom>
          <a:noFill/>
          <a:ln w="0">
            <a:noFill/>
          </a:ln>
        </p:spPr>
        <p:txBody>
          <a:bodyPr wrap="none" lIns="0" tIns="0" rIns="0" bIns="0" anchor="ctr">
            <a:noAutofit/>
          </a:bodyPr>
          <a:lstStyle/>
          <a:p>
            <a:pPr algn="l">
              <a:defRPr sz="1800" b="0">
                <a:solidFill>
                  <a:srgbClr val="286DA0"/>
                </a:solidFill>
                <a:latin typeface="Arial"/>
                <a:ea typeface="Arial"/>
                <a:cs typeface="Arial"/>
              </a:defRPr>
            </a:pPr>
            <a:r>
              <a:rPr sz="1800" b="0" dirty="0">
                <a:solidFill>
                  <a:srgbClr val="286DA0"/>
                </a:solidFill>
                <a:latin typeface="Arial"/>
                <a:ea typeface="Arial"/>
                <a:cs typeface="Arial"/>
              </a:rPr>
              <a:t>Public health</a:t>
            </a:r>
          </a:p>
        </p:txBody>
      </p:sp>
      <p:sp>
        <p:nvSpPr>
          <p:cNvPr id="71" name="Application: Epidemiology">
            <a:extLst>
              <a:ext uri="{FF2B5EF4-FFF2-40B4-BE49-F238E27FC236}">
                <a16:creationId xmlns:a16="http://schemas.microsoft.com/office/drawing/2014/main" id="{B19A0C0A-F913-415D-8188-7A2DF95F9313}"/>
              </a:ext>
            </a:extLst>
          </p:cNvPr>
          <p:cNvSpPr>
            <a:spLocks noGrp="1"/>
          </p:cNvSpPr>
          <p:nvPr/>
        </p:nvSpPr>
        <p:spPr>
          <a:xfrm>
            <a:off x="8162925" y="3076575"/>
            <a:ext cx="2076450" cy="400050"/>
          </a:xfrm>
          <a:prstGeom prst="rect">
            <a:avLst/>
          </a:prstGeom>
          <a:noFill/>
          <a:ln w="0">
            <a:noFill/>
          </a:ln>
        </p:spPr>
        <p:txBody>
          <a:bodyPr wrap="none" lIns="0" tIns="0" rIns="0" bIns="0" anchor="ctr">
            <a:noAutofit/>
          </a:bodyPr>
          <a:lstStyle/>
          <a:p>
            <a:pPr algn="l">
              <a:defRPr sz="2400" b="1">
                <a:solidFill>
                  <a:srgbClr val="008A8C"/>
                </a:solidFill>
                <a:latin typeface="Arial"/>
                <a:ea typeface="Arial"/>
                <a:cs typeface="Arial"/>
              </a:defRPr>
            </a:pPr>
            <a:r>
              <a:rPr sz="2400" b="1">
                <a:solidFill>
                  <a:srgbClr val="008A8C"/>
                </a:solidFill>
                <a:latin typeface="Arial"/>
                <a:ea typeface="Arial"/>
                <a:cs typeface="Arial"/>
              </a:rPr>
              <a:t>Epidemiology</a:t>
            </a:r>
          </a:p>
        </p:txBody>
      </p:sp>
      <p:sp>
        <p:nvSpPr>
          <p:cNvPr id="72" name="Application: Environment">
            <a:extLst>
              <a:ext uri="{FF2B5EF4-FFF2-40B4-BE49-F238E27FC236}">
                <a16:creationId xmlns:a16="http://schemas.microsoft.com/office/drawing/2014/main" id="{0A53182E-1D1B-4EF8-81C6-213A71F222E7}"/>
              </a:ext>
            </a:extLst>
          </p:cNvPr>
          <p:cNvSpPr>
            <a:spLocks noGrp="1"/>
          </p:cNvSpPr>
          <p:nvPr/>
        </p:nvSpPr>
        <p:spPr>
          <a:xfrm>
            <a:off x="10336325" y="3069520"/>
            <a:ext cx="2095500" cy="428625"/>
          </a:xfrm>
          <a:prstGeom prst="rect">
            <a:avLst/>
          </a:prstGeom>
          <a:noFill/>
          <a:ln w="0">
            <a:noFill/>
          </a:ln>
        </p:spPr>
        <p:txBody>
          <a:bodyPr wrap="none" lIns="0" tIns="0" rIns="0" bIns="0" anchor="ctr">
            <a:noAutofit/>
          </a:bodyPr>
          <a:lstStyle/>
          <a:p>
            <a:pPr algn="l">
              <a:defRPr sz="2550" b="1">
                <a:solidFill>
                  <a:srgbClr val="008A8C"/>
                </a:solidFill>
                <a:latin typeface="Arial"/>
                <a:ea typeface="Arial"/>
                <a:cs typeface="Arial"/>
              </a:defRPr>
            </a:pPr>
            <a:r>
              <a:rPr sz="2550" b="1" dirty="0">
                <a:solidFill>
                  <a:srgbClr val="008A8C"/>
                </a:solidFill>
                <a:latin typeface="Arial"/>
                <a:ea typeface="Arial"/>
                <a:cs typeface="Arial"/>
              </a:rPr>
              <a:t>Environment</a:t>
            </a:r>
          </a:p>
        </p:txBody>
      </p:sp>
      <p:sp>
        <p:nvSpPr>
          <p:cNvPr id="73" name="Application: Conservation">
            <a:extLst>
              <a:ext uri="{FF2B5EF4-FFF2-40B4-BE49-F238E27FC236}">
                <a16:creationId xmlns:a16="http://schemas.microsoft.com/office/drawing/2014/main" id="{DD03F7AF-6CD3-4EE7-98C1-ADC89EA355F8}"/>
              </a:ext>
            </a:extLst>
          </p:cNvPr>
          <p:cNvSpPr>
            <a:spLocks noGrp="1"/>
          </p:cNvSpPr>
          <p:nvPr/>
        </p:nvSpPr>
        <p:spPr>
          <a:xfrm>
            <a:off x="12541517" y="3144235"/>
            <a:ext cx="1543050" cy="295275"/>
          </a:xfrm>
          <a:prstGeom prst="rect">
            <a:avLst/>
          </a:prstGeom>
          <a:noFill/>
          <a:ln w="0">
            <a:noFill/>
          </a:ln>
        </p:spPr>
        <p:txBody>
          <a:bodyPr wrap="none" lIns="0" tIns="0" rIns="0" bIns="0" anchor="ctr">
            <a:noAutofit/>
          </a:bodyPr>
          <a:lstStyle/>
          <a:p>
            <a:pPr algn="l">
              <a:defRPr sz="1725" b="0">
                <a:solidFill>
                  <a:srgbClr val="A46B25"/>
                </a:solidFill>
                <a:latin typeface="Arial"/>
                <a:ea typeface="Arial"/>
                <a:cs typeface="Arial"/>
              </a:defRPr>
            </a:pPr>
            <a:r>
              <a:rPr sz="1725" b="0" dirty="0">
                <a:solidFill>
                  <a:srgbClr val="A46B25"/>
                </a:solidFill>
                <a:latin typeface="Arial"/>
                <a:ea typeface="Arial"/>
                <a:cs typeface="Arial"/>
              </a:rPr>
              <a:t>Conservation</a:t>
            </a:r>
          </a:p>
        </p:txBody>
      </p:sp>
      <p:sp>
        <p:nvSpPr>
          <p:cNvPr id="74" name="Application: spatial">
            <a:extLst>
              <a:ext uri="{FF2B5EF4-FFF2-40B4-BE49-F238E27FC236}">
                <a16:creationId xmlns:a16="http://schemas.microsoft.com/office/drawing/2014/main" id="{6D8629E4-331E-46F1-A4D0-7CE76EEE57E0}"/>
              </a:ext>
            </a:extLst>
          </p:cNvPr>
          <p:cNvSpPr>
            <a:spLocks noGrp="1"/>
          </p:cNvSpPr>
          <p:nvPr/>
        </p:nvSpPr>
        <p:spPr>
          <a:xfrm>
            <a:off x="3548062" y="3590925"/>
            <a:ext cx="685800" cy="266700"/>
          </a:xfrm>
          <a:prstGeom prst="rect">
            <a:avLst/>
          </a:prstGeom>
          <a:noFill/>
          <a:ln w="0">
            <a:noFill/>
          </a:ln>
        </p:spPr>
        <p:txBody>
          <a:bodyPr wrap="none" lIns="0" tIns="0" rIns="0" bIns="0" anchor="ctr">
            <a:noAutofit/>
          </a:bodyPr>
          <a:lstStyle/>
          <a:p>
            <a:pPr algn="l">
              <a:defRPr sz="1575" b="0">
                <a:solidFill>
                  <a:srgbClr val="526576"/>
                </a:solidFill>
                <a:latin typeface="Arial"/>
                <a:ea typeface="Arial"/>
                <a:cs typeface="Arial"/>
              </a:defRPr>
            </a:pPr>
            <a:r>
              <a:rPr sz="1575" b="0" dirty="0">
                <a:solidFill>
                  <a:srgbClr val="526576"/>
                </a:solidFill>
                <a:latin typeface="Arial"/>
                <a:ea typeface="Arial"/>
                <a:cs typeface="Arial"/>
              </a:rPr>
              <a:t>spatial</a:t>
            </a:r>
          </a:p>
        </p:txBody>
      </p:sp>
      <p:sp>
        <p:nvSpPr>
          <p:cNvPr id="75" name="Application: temporal">
            <a:extLst>
              <a:ext uri="{FF2B5EF4-FFF2-40B4-BE49-F238E27FC236}">
                <a16:creationId xmlns:a16="http://schemas.microsoft.com/office/drawing/2014/main" id="{7B6E262F-1F0A-43F6-9304-84B90DDB36EE}"/>
              </a:ext>
            </a:extLst>
          </p:cNvPr>
          <p:cNvSpPr>
            <a:spLocks noGrp="1"/>
          </p:cNvSpPr>
          <p:nvPr/>
        </p:nvSpPr>
        <p:spPr>
          <a:xfrm>
            <a:off x="4278953" y="3586961"/>
            <a:ext cx="866775" cy="276225"/>
          </a:xfrm>
          <a:prstGeom prst="rect">
            <a:avLst/>
          </a:prstGeom>
          <a:noFill/>
          <a:ln w="0">
            <a:noFill/>
          </a:ln>
        </p:spPr>
        <p:txBody>
          <a:bodyPr wrap="none" lIns="0" tIns="0" rIns="0" bIns="0" anchor="ctr">
            <a:noAutofit/>
          </a:bodyPr>
          <a:lstStyle/>
          <a:p>
            <a:pPr algn="l">
              <a:defRPr sz="1575" b="0">
                <a:solidFill>
                  <a:srgbClr val="526576"/>
                </a:solidFill>
                <a:latin typeface="Arial"/>
                <a:ea typeface="Arial"/>
                <a:cs typeface="Arial"/>
              </a:defRPr>
            </a:pPr>
            <a:r>
              <a:rPr sz="1575" b="0" dirty="0">
                <a:solidFill>
                  <a:srgbClr val="526576"/>
                </a:solidFill>
                <a:latin typeface="Arial"/>
                <a:ea typeface="Arial"/>
                <a:cs typeface="Arial"/>
              </a:rPr>
              <a:t>temporal</a:t>
            </a:r>
          </a:p>
        </p:txBody>
      </p:sp>
      <p:sp>
        <p:nvSpPr>
          <p:cNvPr id="76" name="Application: spatiotemporal">
            <a:extLst>
              <a:ext uri="{FF2B5EF4-FFF2-40B4-BE49-F238E27FC236}">
                <a16:creationId xmlns:a16="http://schemas.microsoft.com/office/drawing/2014/main" id="{9D46862A-A9CB-4A56-93AB-889A1E1CA435}"/>
              </a:ext>
            </a:extLst>
          </p:cNvPr>
          <p:cNvSpPr>
            <a:spLocks noGrp="1"/>
          </p:cNvSpPr>
          <p:nvPr/>
        </p:nvSpPr>
        <p:spPr>
          <a:xfrm>
            <a:off x="5253533" y="3559592"/>
            <a:ext cx="1819275" cy="323850"/>
          </a:xfrm>
          <a:prstGeom prst="rect">
            <a:avLst/>
          </a:prstGeom>
          <a:noFill/>
          <a:ln w="0">
            <a:noFill/>
          </a:ln>
        </p:spPr>
        <p:txBody>
          <a:bodyPr wrap="none" lIns="0" tIns="0" rIns="0" bIns="0" anchor="ctr">
            <a:noAutofit/>
          </a:bodyPr>
          <a:lstStyle/>
          <a:p>
            <a:pPr algn="l">
              <a:defRPr sz="1875" b="0">
                <a:solidFill>
                  <a:srgbClr val="286DA0"/>
                </a:solidFill>
                <a:latin typeface="Arial"/>
                <a:ea typeface="Arial"/>
                <a:cs typeface="Arial"/>
              </a:defRPr>
            </a:pPr>
            <a:r>
              <a:rPr sz="1875" b="0" dirty="0">
                <a:solidFill>
                  <a:srgbClr val="286DA0"/>
                </a:solidFill>
                <a:latin typeface="Arial"/>
                <a:ea typeface="Arial"/>
                <a:cs typeface="Arial"/>
              </a:rPr>
              <a:t>spatiotemporal</a:t>
            </a:r>
          </a:p>
        </p:txBody>
      </p:sp>
      <p:sp>
        <p:nvSpPr>
          <p:cNvPr id="77" name="Application: HIV">
            <a:extLst>
              <a:ext uri="{FF2B5EF4-FFF2-40B4-BE49-F238E27FC236}">
                <a16:creationId xmlns:a16="http://schemas.microsoft.com/office/drawing/2014/main" id="{A1E06CD4-830C-4D8D-A3D9-36901BE4A761}"/>
              </a:ext>
            </a:extLst>
          </p:cNvPr>
          <p:cNvSpPr>
            <a:spLocks noGrp="1"/>
          </p:cNvSpPr>
          <p:nvPr/>
        </p:nvSpPr>
        <p:spPr>
          <a:xfrm>
            <a:off x="6943725" y="3600450"/>
            <a:ext cx="419100" cy="257175"/>
          </a:xfrm>
          <a:prstGeom prst="rect">
            <a:avLst/>
          </a:prstGeom>
          <a:noFill/>
          <a:ln w="0">
            <a:noFill/>
          </a:ln>
        </p:spPr>
        <p:txBody>
          <a:bodyPr wrap="none" lIns="0" tIns="0" rIns="0" bIns="0" anchor="ctr">
            <a:noAutofit/>
          </a:bodyPr>
          <a:lstStyle/>
          <a:p>
            <a:pPr algn="l">
              <a:defRPr sz="1500" b="0">
                <a:solidFill>
                  <a:srgbClr val="526576"/>
                </a:solidFill>
                <a:latin typeface="Arial"/>
                <a:ea typeface="Arial"/>
                <a:cs typeface="Arial"/>
              </a:defRPr>
            </a:pPr>
            <a:r>
              <a:rPr sz="1500" b="0">
                <a:solidFill>
                  <a:srgbClr val="526576"/>
                </a:solidFill>
                <a:latin typeface="Arial"/>
                <a:ea typeface="Arial"/>
                <a:cs typeface="Arial"/>
              </a:rPr>
              <a:t>HIV</a:t>
            </a:r>
          </a:p>
        </p:txBody>
      </p:sp>
      <p:sp>
        <p:nvSpPr>
          <p:cNvPr id="78" name="Application: Cancer">
            <a:extLst>
              <a:ext uri="{FF2B5EF4-FFF2-40B4-BE49-F238E27FC236}">
                <a16:creationId xmlns:a16="http://schemas.microsoft.com/office/drawing/2014/main" id="{A02D163D-D618-4630-AF46-3DF5871F9118}"/>
              </a:ext>
            </a:extLst>
          </p:cNvPr>
          <p:cNvSpPr>
            <a:spLocks noGrp="1"/>
          </p:cNvSpPr>
          <p:nvPr/>
        </p:nvSpPr>
        <p:spPr>
          <a:xfrm>
            <a:off x="7412800" y="3571875"/>
            <a:ext cx="781050" cy="276225"/>
          </a:xfrm>
          <a:prstGeom prst="rect">
            <a:avLst/>
          </a:prstGeom>
          <a:noFill/>
          <a:ln w="0">
            <a:noFill/>
          </a:ln>
        </p:spPr>
        <p:txBody>
          <a:bodyPr wrap="none" lIns="0" tIns="0" rIns="0" bIns="0" anchor="ctr">
            <a:noAutofit/>
          </a:bodyPr>
          <a:lstStyle/>
          <a:p>
            <a:pPr algn="l">
              <a:defRPr sz="1650" b="0">
                <a:solidFill>
                  <a:srgbClr val="6356A4"/>
                </a:solidFill>
                <a:latin typeface="Arial"/>
                <a:ea typeface="Arial"/>
                <a:cs typeface="Arial"/>
              </a:defRPr>
            </a:pPr>
            <a:r>
              <a:rPr sz="1650" b="0" dirty="0">
                <a:solidFill>
                  <a:srgbClr val="6356A4"/>
                </a:solidFill>
                <a:latin typeface="Arial"/>
                <a:ea typeface="Arial"/>
                <a:cs typeface="Arial"/>
              </a:rPr>
              <a:t>Cancer</a:t>
            </a:r>
          </a:p>
        </p:txBody>
      </p:sp>
      <p:sp>
        <p:nvSpPr>
          <p:cNvPr id="79" name="Application: dolphins">
            <a:extLst>
              <a:ext uri="{FF2B5EF4-FFF2-40B4-BE49-F238E27FC236}">
                <a16:creationId xmlns:a16="http://schemas.microsoft.com/office/drawing/2014/main" id="{E058DEAF-C58C-49AD-8064-A707F30DE0CA}"/>
              </a:ext>
            </a:extLst>
          </p:cNvPr>
          <p:cNvSpPr>
            <a:spLocks noGrp="1"/>
          </p:cNvSpPr>
          <p:nvPr/>
        </p:nvSpPr>
        <p:spPr>
          <a:xfrm>
            <a:off x="8239125" y="3547669"/>
            <a:ext cx="962025" cy="323850"/>
          </a:xfrm>
          <a:prstGeom prst="rect">
            <a:avLst/>
          </a:prstGeom>
          <a:noFill/>
          <a:ln w="0">
            <a:noFill/>
          </a:ln>
        </p:spPr>
        <p:txBody>
          <a:bodyPr wrap="none" lIns="0" tIns="0" rIns="0" bIns="0" anchor="ctr">
            <a:noAutofit/>
          </a:bodyPr>
          <a:lstStyle/>
          <a:p>
            <a:pPr algn="l">
              <a:defRPr sz="1950" b="0">
                <a:solidFill>
                  <a:srgbClr val="008A8C"/>
                </a:solidFill>
                <a:latin typeface="Arial"/>
                <a:ea typeface="Arial"/>
                <a:cs typeface="Arial"/>
              </a:defRPr>
            </a:pPr>
            <a:r>
              <a:rPr sz="1950" b="0" dirty="0">
                <a:solidFill>
                  <a:srgbClr val="008A8C"/>
                </a:solidFill>
                <a:latin typeface="Arial"/>
                <a:ea typeface="Arial"/>
                <a:cs typeface="Arial"/>
              </a:rPr>
              <a:t>dolphins</a:t>
            </a:r>
          </a:p>
        </p:txBody>
      </p:sp>
      <p:sp>
        <p:nvSpPr>
          <p:cNvPr id="80" name="Application: Disease mapping">
            <a:extLst>
              <a:ext uri="{FF2B5EF4-FFF2-40B4-BE49-F238E27FC236}">
                <a16:creationId xmlns:a16="http://schemas.microsoft.com/office/drawing/2014/main" id="{786991B9-5C3E-4D37-AD4B-4B399E397EDB}"/>
              </a:ext>
            </a:extLst>
          </p:cNvPr>
          <p:cNvSpPr>
            <a:spLocks noGrp="1"/>
          </p:cNvSpPr>
          <p:nvPr/>
        </p:nvSpPr>
        <p:spPr>
          <a:xfrm>
            <a:off x="9310687" y="3531672"/>
            <a:ext cx="1857375" cy="304800"/>
          </a:xfrm>
          <a:prstGeom prst="rect">
            <a:avLst/>
          </a:prstGeom>
          <a:noFill/>
          <a:ln w="0">
            <a:noFill/>
          </a:ln>
        </p:spPr>
        <p:txBody>
          <a:bodyPr wrap="none" lIns="0" tIns="0" rIns="0" bIns="0" anchor="ctr">
            <a:noAutofit/>
          </a:bodyPr>
          <a:lstStyle/>
          <a:p>
            <a:pPr algn="l">
              <a:defRPr sz="1800" b="0">
                <a:solidFill>
                  <a:srgbClr val="526576"/>
                </a:solidFill>
                <a:latin typeface="Arial"/>
                <a:ea typeface="Arial"/>
                <a:cs typeface="Arial"/>
              </a:defRPr>
            </a:pPr>
            <a:r>
              <a:rPr sz="1800" b="0" dirty="0">
                <a:solidFill>
                  <a:srgbClr val="526576"/>
                </a:solidFill>
                <a:latin typeface="Arial"/>
                <a:ea typeface="Arial"/>
                <a:cs typeface="Arial"/>
              </a:rPr>
              <a:t>Disease mapping</a:t>
            </a:r>
          </a:p>
        </p:txBody>
      </p:sp>
      <p:sp>
        <p:nvSpPr>
          <p:cNvPr id="81" name="Application: Infectious diseases">
            <a:extLst>
              <a:ext uri="{FF2B5EF4-FFF2-40B4-BE49-F238E27FC236}">
                <a16:creationId xmlns:a16="http://schemas.microsoft.com/office/drawing/2014/main" id="{88B16477-8804-4EA5-B245-DAFFDD9CD224}"/>
              </a:ext>
            </a:extLst>
          </p:cNvPr>
          <p:cNvSpPr>
            <a:spLocks noGrp="1"/>
          </p:cNvSpPr>
          <p:nvPr/>
        </p:nvSpPr>
        <p:spPr>
          <a:xfrm>
            <a:off x="11277104" y="3548062"/>
            <a:ext cx="2219325" cy="304800"/>
          </a:xfrm>
          <a:prstGeom prst="rect">
            <a:avLst/>
          </a:prstGeom>
          <a:noFill/>
          <a:ln w="0">
            <a:noFill/>
          </a:ln>
        </p:spPr>
        <p:txBody>
          <a:bodyPr wrap="none" lIns="0" tIns="0" rIns="0" bIns="0" anchor="ctr">
            <a:noAutofit/>
          </a:bodyPr>
          <a:lstStyle/>
          <a:p>
            <a:pPr algn="l">
              <a:defRPr sz="1800" b="0">
                <a:solidFill>
                  <a:srgbClr val="286DA0"/>
                </a:solidFill>
                <a:latin typeface="Arial"/>
                <a:ea typeface="Arial"/>
                <a:cs typeface="Arial"/>
              </a:defRPr>
            </a:pPr>
            <a:r>
              <a:rPr sz="1800" b="0" dirty="0">
                <a:solidFill>
                  <a:srgbClr val="286DA0"/>
                </a:solidFill>
                <a:latin typeface="Arial"/>
                <a:ea typeface="Arial"/>
                <a:cs typeface="Arial"/>
              </a:rPr>
              <a:t>Infectious diseases</a:t>
            </a:r>
          </a:p>
        </p:txBody>
      </p:sp>
    </p:spTree>
    <p:extLst>
      <p:ext uri="{BB962C8B-B14F-4D97-AF65-F5344CB8AC3E}">
        <p14:creationId xmlns:p14="http://schemas.microsoft.com/office/powerpoint/2010/main" val="957940373"/>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TotalTime>
  <Words>2471</Words>
  <Application>Microsoft Macintosh PowerPoint</Application>
  <DocSecurity>0</DocSecurity>
  <PresentationFormat>Custom</PresentationFormat>
  <Paragraphs>89</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ChatGPT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Haziq Jamil</cp:lastModifiedBy>
  <cp:revision>2</cp:revision>
  <dcterms:created xsi:type="dcterms:W3CDTF">2026-09-28T12:55:03Z</dcterms:created>
  <dcterms:modified xsi:type="dcterms:W3CDTF">2026-09-28T13:58:40Z</dcterms:modified>
</cp:coreProperties>
</file>