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5240000" cy="42862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8" d="100"/>
          <a:sy n="108" d="100"/>
        </p:scale>
        <p:origin x="256"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What does BAYESCOMP do?</a:t>
            </a:r>
          </a:p>
          <a:p>
            <a:endParaRPr/>
          </a:p>
          <a:p>
            <a:r>
              <a:t>Research map prepared on 28 September 2026, primarily from 2025–2026 papers, preprints and the group's research announcements. The categories are an editorial synthesis, not an official group taxonomy or an exhaustive bibliography. Collaborative papers are included where BAYESCOMP researchers contribute; this does not attribute the entire collaboration to the group.</a:t>
            </a:r>
          </a:p>
          <a:p>
            <a:endParaRPr/>
          </a:p>
          <a:p>
            <a:r>
              <a:t>## Recommended visual framing</a:t>
            </a:r>
          </a:p>
          <a:p>
            <a:endParaRPr/>
          </a:p>
          <a:p>
            <a:r>
              <a:t>Use a connected spectrum with four areas: **Foundations &amp; priors**, **Model development**, **Inference &amp; assessment**, and **Scalable computation**. Place **applications across the full width underneath**, with a two-way connection: substantive problems motivate the research, and applications test the resulting methods.</a:t>
            </a:r>
          </a:p>
          <a:p>
            <a:endParaRPr/>
          </a:p>
          <a:p>
            <a:r>
              <a:t>Positions indicate emphasis, not a quantitative score, chronology, hierarchy or a sequence every project must follow. Methodology and computation overlap, especially around approximate inference. Treat the four areas as useful reading anchors with permeable boundaries.</a:t>
            </a:r>
          </a:p>
          <a:p>
            <a:endParaRPr/>
          </a:p>
          <a:p>
            <a:r>
              <a:t>The group's own description centres on statistical and computational methodology for approximate Bayesian analysis of complex latent Gaussian models, linking theory to high-performance computation. The recent work also reaches Bayesian foundations, psychometric SEM and generalized Bayesian unlearning. [BAYESCOMP overview](https://bayescomp.kaust.edu.sa/)</a:t>
            </a:r>
          </a:p>
          <a:p>
            <a:endParaRPr/>
          </a:p>
          <a:p>
            <a:r>
              <a:t>## Research directions behind the four areas</a:t>
            </a:r>
          </a:p>
          <a:p>
            <a:endParaRPr/>
          </a:p>
          <a:p>
            <a:r>
              <a:t>| Direction | Central question | Representative current work | Placement and overlap |</a:t>
            </a:r>
          </a:p>
          <a:p>
            <a:r>
              <a:t>|---|---|---|---|</a:t>
            </a:r>
          </a:p>
          <a:p>
            <a:r>
              <a:t>| Bayesian foundations | What principles justify updating and deleting information? | Information conservation, coherent deletion and generalized Bayesian unlearning. | Foundations, with a direct link to predictive assessment and variational inference. |</a:t>
            </a:r>
          </a:p>
          <a:p>
            <a:r>
              <a:t>| Prior construction and dependence | How can substantive knowledge and regularisation enter a model? | PC priors, graph-based correlation models and informative priors centred on a reference correlation matrix. | Foundations and model development. |</a:t>
            </a:r>
          </a:p>
          <a:p>
            <a:r>
              <a:t>| Latent variable modelling and psychometrics | How can latent constructs be estimated efficiently? | Approximate Bayesian SEM, CFA and a broader research programme covering IRT. | Model development and approximate inference. |</a:t>
            </a:r>
          </a:p>
          <a:p>
            <a:r>
              <a:t>| Spatial, temporal and joint modelling | How should structured dependence and linked outcomes be represented? | Spatio-temporal Gaussian fields, spatial point processes, and joint longitudinal–survival models. | Model development, often closely coupled to numerical work. |</a:t>
            </a:r>
          </a:p>
          <a:p>
            <a:r>
              <a:t>| Approximate Bayesian inference | How can posterior distributions be approximated accurately and quickly? | INLA, Laplace approximations, variational corrections and skewed posterior approximations. | The central bridge between statistical methodology and computation. |</a:t>
            </a:r>
          </a:p>
          <a:p>
            <a:r>
              <a:t>| Predictive assessment and model criticism | What prediction task is being evaluated, and are the assumptions adequate? | Leave-group-, cluster- and region-out cross-validation, model checking and robustness analysis. | Inference and assessment, with foundational and computational contributions. |</a:t>
            </a:r>
          </a:p>
          <a:p>
            <a:r>
              <a:t>| Numerical methods and computing systems | How can the required calculations scale? | Structure-adaptive sparse solvers, automatic differentiation, GPU acceleration and distributed inference. | Scalable computation, informed by the model's mathematical structure. |</a:t>
            </a:r>
          </a:p>
          <a:p>
            <a:endParaRPr/>
          </a:p>
          <a:p>
            <a:r>
              <a:t>## Recent evidence and why it matters</a:t>
            </a:r>
          </a:p>
          <a:p>
            <a:endParaRPr/>
          </a:p>
          <a:p>
            <a:r>
              <a:t>1. **Information deletion.** Montcho and Rue, *Coherent information deletion: Bayes' theorem and generalized Bayesian unlearning*. First submitted 8 February 2026; latest version reviewed here: 27 August 2026, v3. The earlier title was *Optimal information deletion and Bayes' theorem*. The paper complements Zellner's information-processing result with deletion, identifies the leave-data-out posterior under the stated criterion, and extends the argument to coherent generalized Bayesian deletion. It warrants an explicit foundations label. [Preprint](https://arxiv.org/abs/2602.09061v3)</a:t>
            </a:r>
          </a:p>
          <a:p>
            <a:endParaRPr/>
          </a:p>
          <a:p>
            <a:r>
              <a:t>2. **Informative correlation priors.** Freni-Sterrantino, van Niekerk, Krainski, Rustand, Jamil and Rue, *Informative Distance-Based Priors for Correlation Matrices Centred on a Target Reference*, 21 July 2026. It develops priors around user-specified correlation structures and accommodates graph constraints, with implementation in graphpcor. A useful nuance: shrinkage toward an arbitrary reference need not mean shrinkage toward a simpler model, even though the construction uses the PC-prior framework. [Preprint](https://arxiv.org/abs/2607.18926)</a:t>
            </a:r>
          </a:p>
          <a:p>
            <a:endParaRPr/>
          </a:p>
          <a:p>
            <a:r>
              <a:t>3. **SEM methodology.** Jamil and Rue, *Approximate Bayesian Inference for Structural Equation Models using Integrated Nested Laplace Approximations*. First submitted 26 March 2026; v4 dated 16 September 2026. A bespoke adaptation of INLA ideas integrates out latent variables and combines posterior profiling with variational corrections. The current version discusses limitations under weak identification and near variance boundaries. This belongs to both model-specific methodology and inference. [Preprint](https://arxiv.org/abs/2603.25690v4)</a:t>
            </a:r>
          </a:p>
          <a:p>
            <a:endParaRPr/>
          </a:p>
          <a:p>
            <a:r>
              <a:t>4. **Psychometric workflows and broader LVM development.** The INLAvaan companion manuscript describes implementation and applied workflows. Separately, the group's April 2026 research programme explicitly covers factor analysis, SEM and IRT. The infographic's IRT label represents that broader programme; it does not imply that every model class is already covered by the current SEM paper. [INLAvaan manuscript](https://arxiv.org/abs/2604.00671), [group research programme](https://bayescomp.kaust.edu.sa/articles/2026/03/10/bayescomp-group-secures-crg-funding-revolutionize-latent-variable-modeling)</a:t>
            </a:r>
          </a:p>
          <a:p>
            <a:endParaRPr/>
          </a:p>
          <a:p>
            <a:r>
              <a:t>5. **Joint longitudinal–survival models.** Rustand, Rue, Le Gall and Leffondre, *Efficient Bayesian inference for non-linear association structures in joint models: A hierarchical approach via INLA*, 20 April 2026. The work relaxes linear biomarker–risk associations and implements the approach in INLAjoint, with a BMI/mortality application. This is a substantive methodological direction, as well as a health application. [Preprint](https://arxiv.org/abs/2604.18057)</a:t>
            </a:r>
          </a:p>
          <a:p>
            <a:endParaRPr/>
          </a:p>
          <a:p>
            <a:r>
              <a:t>6. **Approximation accuracy.** Dutta, van Niekerk and Rue, *Scalable Skewed Bayesian Inference for Latent Gaussian Models Using INLA and Variational Bayes*, JCGS, published online 21 April 2026. The work improves treatment of skewed marginals while retaining dependence, using a variational framework within INLA. This supports naming approximate inference explicitly, beyond a generic “computational methods” category. [Published article](https://www.tandfonline.com/doi/full/10.1080/10618600.2026.2628274)</a:t>
            </a:r>
          </a:p>
          <a:p>
            <a:endParaRPr/>
          </a:p>
          <a:p>
            <a:r>
              <a:t>7. **Cross-validation under dependence.** Liu, van Niekerk and Rue, *Leave-group-out cross-validation for latent Gaussian models*, SORT 49(1), 2025. Group selection changes the prediction setting being evaluated, and posterior adjustment avoids repeated fitting. [Published article](https://www.idescat.cat/sort/sort491/49.1.5.Liu-etal.pdf)</a:t>
            </a:r>
          </a:p>
          <a:p>
            <a:endParaRPr/>
          </a:p>
          <a:p>
            <a:r>
              <a:t>8. **Multilevel SEM cross-validation.** Alhyari, Jamil, Montcho and Rue, *Deterministic Leave-One-Cluster-Out Cross-Validation for Multilevel Bayesian Structural Equation Models*, 1 September 2026. It develops a deterministic approximation using one INLAvaan fit, with education and well-being examples. [Preprint](https://arxiv.org/abs/2609.00670)</a:t>
            </a:r>
          </a:p>
          <a:p>
            <a:endParaRPr/>
          </a:p>
          <a:p>
            <a:r>
              <a:t>9. **Spatial point-process cross-validation.** Montcho, Rue, Lindgren, Bolin, Krainski, Castro-Camilo and Martino, *Cross Validation for the log Gaussian Cox Process*, 15 September 2026. Spatial regions define the prediction units. Unlearning and Laplace approximations enable predictive assessment without repeated refitting. This makes the foundations–spatial modelling–assessment connection particularly clear. [Preprint](https://arxiv.org/abs/2609.17908)</a:t>
            </a:r>
          </a:p>
          <a:p>
            <a:endParaRPr/>
          </a:p>
          <a:p>
            <a:r>
              <a:t>10. **Model checking and robustness.** *Robustness, model checking, and hierarchical models*, JRSS B 87(3), 2025, develops a workflow connecting assumption checks to sensitivity of conclusions. Latent Gaussianity is a central example, with implementations in Stan and R-INLA. This complements cross-validation, which asks a different predictive question. [Published article](https://academic.oup.com/jrsssb/article/87/3/632/7914952)</a:t>
            </a:r>
          </a:p>
          <a:p>
            <a:endParaRPr/>
          </a:p>
          <a:p>
            <a:r>
              <a:t>11. **Sparse numerical kernels.** Abdul Fattah, Ltaief, Rue and Keyes, *Dense Matrices Are Alike; Sparse Matrices Are Sparse in Their Own Way: A Structure-Adaptive Tile Cholesky Factorization*, 24 September 2026. The solver adapts storage and computation to matrix structure, targeting repeated factorizations such as those required by INLA. The project is sTiles. [Preprint](https://arxiv.org/abs/2609.29765)</a:t>
            </a:r>
          </a:p>
          <a:p>
            <a:endParaRPr/>
          </a:p>
          <a:p>
            <a:r>
              <a:t>12. **GPU and distributed inference.** Gaedke-Merzhäuser and collaborators, *Accelerated Spatio-Temporal Bayesian Modeling for Multivariate Gaussian Processes*, 2025, introduce DALIA. Its sparse precision formulation and parallel implementation connect model structure to large-scale inference, demonstrated with air-pollution data. [Paper/preprint](https://arxiv.org/abs/2507.06938)</a:t>
            </a:r>
          </a:p>
          <a:p>
            <a:endParaRPr/>
          </a:p>
          <a:p>
            <a:r>
              <a:t>13. **Automatic differentiation.** Boudaoud and collaborators, *ADELIA: Automatic Differentiation for Efficient Laplace Inference Approximations*, 7 May 2026. This develops differentiation through structured sparse INLA operations with multi-GPU execution. It gives a more specific description of the computational research than “acceleration” alone. [Preprint](https://arxiv.org/abs/2605.06392)</a:t>
            </a:r>
          </a:p>
          <a:p>
            <a:endParaRPr/>
          </a:p>
          <a:p>
            <a:r>
              <a:t>The latest items above are identified as preprints; arXiv availability does not establish peer-reviewed publication.</a:t>
            </a:r>
          </a:p>
          <a:p>
            <a:endParaRPr/>
          </a:p>
          <a:p>
            <a:r>
              <a:t>## Applications and software</a:t>
            </a:r>
          </a:p>
          <a:p>
            <a:endParaRPr/>
          </a:p>
          <a:p>
            <a:r>
              <a:t>The application strip groups examples into education and psychology, health and survival, and environment and climate. These labels describe broad drivers and test settings, not an exhaustive portfolio. Supporting examples include PISA school climate and MIDUS well-being in the multilevel SEM work, BMI and mortality in joint modelling, and air pollution in DALIA. The group also reports a 2025 coral-bleaching collaboration. [Group account of coral research](https://bayescomp.kaust.edu.sa/articles/2025/11/19/equatorial-coral-reefs-may-offer-natural-refuge-during-marine-heatwaves)</a:t>
            </a:r>
          </a:p>
          <a:p>
            <a:endParaRPr/>
          </a:p>
          <a:p>
            <a:r>
              <a:t>Software is a cross-cutting research output: R-INLA, INLAvaan, INLAjoint, graphpcor, sTiles and DALIA make different parts of the work usable. Their names are kept in this note rather than crowding the half-slide. INLAvaan uses a bespoke adaptation of INLA ideas; it should not be described simply as sending all SEMs through the usual R-INLA latent-Gaussian workflow.</a:t>
            </a:r>
          </a:p>
          <a:p>
            <a:endParaRPr/>
          </a:p>
          <a:p>
            <a:r>
              <a:t>## Reading the infographic</a:t>
            </a:r>
          </a:p>
          <a:p>
            <a:endParaRPr/>
          </a:p>
          <a:p>
            <a:r>
              <a:t>“Latent variables” in the model-development column uses the psychometric sense (SEM/CFA/IRT). Many spatial and joint models also contain latent variables. Separating the labels helps an audience recognise substantive research directions without implying disjoint mathematical classes.</a:t>
            </a:r>
          </a:p>
          <a:p>
            <a:endParaRPr/>
          </a:p>
          <a:p>
            <a:r>
              <a:t>The image is 1600 × 450 in vector coordinates, exactly 16:4.5. The PNG is twice that resolution. At full slide width it occupies half the height of a 16:9 slide. The PowerPoint contains one custom-size slide with native editable text and diagram objects. Copy those objects into a standard slide, or insert the PNG/SVG at full slide width.</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374C99-97E2-4F16-A75A-181C2F44FC84}"/>
              </a:ext>
            </a:extLst>
          </p:cNvPr>
          <p:cNvSpPr>
            <a:spLocks noGrp="1"/>
          </p:cNvSpPr>
          <p:nvPr/>
        </p:nvSpPr>
        <p:spPr>
          <a:xfrm>
            <a:off x="457200" y="550590"/>
            <a:ext cx="14325600" cy="47625"/>
          </a:xfrm>
          <a:prstGeom prst="rect">
            <a:avLst/>
          </a:prstGeom>
          <a:gradFill>
            <a:gsLst>
              <a:gs pos="0">
                <a:srgbClr val="6356A4"/>
              </a:gs>
              <a:gs pos="33333">
                <a:srgbClr val="286DA0"/>
              </a:gs>
              <a:gs pos="66667">
                <a:srgbClr val="008A8C"/>
              </a:gs>
              <a:gs pos="100000">
                <a:srgbClr val="B87521"/>
              </a:gs>
            </a:gsLst>
            <a:lin ang="0"/>
          </a:gradFill>
          <a:ln w="0">
            <a:noFill/>
            <a:prstDash val="solid"/>
          </a:ln>
        </p:spPr>
        <p:txBody>
          <a:bodyPr/>
          <a:lstStyle/>
          <a:p>
            <a:endParaRPr lang="en-US"/>
          </a:p>
        </p:txBody>
      </p:sp>
      <p:sp>
        <p:nvSpPr>
          <p:cNvPr id="6" name="Foundations &amp; priors">
            <a:extLst>
              <a:ext uri="{FF2B5EF4-FFF2-40B4-BE49-F238E27FC236}">
                <a16:creationId xmlns:a16="http://schemas.microsoft.com/office/drawing/2014/main" id="{08BBF72E-A671-44E3-BA4E-9EFCFB56EEC7}"/>
              </a:ext>
            </a:extLst>
          </p:cNvPr>
          <p:cNvSpPr>
            <a:spLocks noGrp="1"/>
          </p:cNvSpPr>
          <p:nvPr/>
        </p:nvSpPr>
        <p:spPr>
          <a:xfrm>
            <a:off x="457200" y="93390"/>
            <a:ext cx="3343275" cy="323850"/>
          </a:xfrm>
          <a:prstGeom prst="rect">
            <a:avLst/>
          </a:prstGeom>
          <a:noFill/>
          <a:ln w="0">
            <a:noFill/>
            <a:prstDash val="solid"/>
          </a:ln>
        </p:spPr>
        <p:txBody>
          <a:bodyPr wrap="none" lIns="0" tIns="0" rIns="0" bIns="0" anchor="ctr">
            <a:noAutofit/>
          </a:bodyPr>
          <a:lstStyle/>
          <a:p>
            <a:pPr algn="l">
              <a:defRPr sz="2025" b="1">
                <a:solidFill>
                  <a:srgbClr val="6356A4"/>
                </a:solidFill>
                <a:latin typeface="Arial"/>
                <a:ea typeface="Arial"/>
                <a:cs typeface="Arial"/>
              </a:defRPr>
            </a:pPr>
            <a:r>
              <a:rPr sz="2025" b="1">
                <a:solidFill>
                  <a:srgbClr val="6356A4"/>
                </a:solidFill>
                <a:latin typeface="Arial"/>
                <a:ea typeface="Arial"/>
                <a:cs typeface="Arial"/>
              </a:rPr>
              <a:t>Foundations &amp; priors</a:t>
            </a:r>
          </a:p>
        </p:txBody>
      </p:sp>
      <p:sp>
        <p:nvSpPr>
          <p:cNvPr id="7" name="Oval 6">
            <a:extLst>
              <a:ext uri="{FF2B5EF4-FFF2-40B4-BE49-F238E27FC236}">
                <a16:creationId xmlns:a16="http://schemas.microsoft.com/office/drawing/2014/main" id="{4ADC81A3-173D-461B-8E15-096F7C4CBFAB}"/>
              </a:ext>
            </a:extLst>
          </p:cNvPr>
          <p:cNvSpPr>
            <a:spLocks noGrp="1"/>
          </p:cNvSpPr>
          <p:nvPr/>
        </p:nvSpPr>
        <p:spPr>
          <a:xfrm>
            <a:off x="447675" y="479153"/>
            <a:ext cx="190500" cy="190500"/>
          </a:xfrm>
          <a:prstGeom prst="ellipse">
            <a:avLst/>
          </a:prstGeom>
          <a:solidFill>
            <a:srgbClr val="FFFFFF"/>
          </a:solidFill>
          <a:ln w="28575">
            <a:solidFill>
              <a:srgbClr val="6356A4"/>
            </a:solidFill>
            <a:prstDash val="solid"/>
          </a:ln>
        </p:spPr>
        <p:txBody>
          <a:bodyPr/>
          <a:lstStyle/>
          <a:p>
            <a:endParaRPr lang="en-US"/>
          </a:p>
        </p:txBody>
      </p:sp>
      <p:sp>
        <p:nvSpPr>
          <p:cNvPr id="8" name="Straight Connector 7">
            <a:extLst>
              <a:ext uri="{FF2B5EF4-FFF2-40B4-BE49-F238E27FC236}">
                <a16:creationId xmlns:a16="http://schemas.microsoft.com/office/drawing/2014/main" id="{104E495C-96B4-4320-A34E-0EDA31FCAF70}"/>
              </a:ext>
            </a:extLst>
          </p:cNvPr>
          <p:cNvSpPr>
            <a:spLocks noGrp="1"/>
          </p:cNvSpPr>
          <p:nvPr/>
        </p:nvSpPr>
        <p:spPr>
          <a:xfrm>
            <a:off x="542925" y="674415"/>
            <a:ext cx="0" cy="1104900"/>
          </a:xfrm>
          <a:prstGeom prst="line">
            <a:avLst/>
          </a:prstGeom>
          <a:noFill/>
          <a:ln w="14288">
            <a:solidFill>
              <a:srgbClr val="6356A4"/>
            </a:solidFill>
            <a:prstDash val="solid"/>
          </a:ln>
        </p:spPr>
        <p:txBody>
          <a:bodyPr/>
          <a:lstStyle/>
          <a:p>
            <a:endParaRPr lang="en-US"/>
          </a:p>
        </p:txBody>
      </p:sp>
      <p:sp>
        <p:nvSpPr>
          <p:cNvPr id="9" name="Straight Connector 8">
            <a:extLst>
              <a:ext uri="{FF2B5EF4-FFF2-40B4-BE49-F238E27FC236}">
                <a16:creationId xmlns:a16="http://schemas.microsoft.com/office/drawing/2014/main" id="{199FA7AF-84FB-41F1-9FDA-A343174FCE22}"/>
              </a:ext>
            </a:extLst>
          </p:cNvPr>
          <p:cNvSpPr>
            <a:spLocks noGrp="1"/>
          </p:cNvSpPr>
          <p:nvPr/>
        </p:nvSpPr>
        <p:spPr>
          <a:xfrm>
            <a:off x="542925" y="1036365"/>
            <a:ext cx="114300" cy="0"/>
          </a:xfrm>
          <a:prstGeom prst="line">
            <a:avLst/>
          </a:prstGeom>
          <a:noFill/>
          <a:ln w="14288">
            <a:solidFill>
              <a:srgbClr val="6356A4"/>
            </a:solidFill>
            <a:prstDash val="solid"/>
          </a:ln>
        </p:spPr>
        <p:txBody>
          <a:bodyPr/>
          <a:lstStyle/>
          <a:p>
            <a:endParaRPr lang="en-US"/>
          </a:p>
        </p:txBody>
      </p:sp>
      <p:sp>
        <p:nvSpPr>
          <p:cNvPr id="10" name="Information deletion / unlearning">
            <a:extLst>
              <a:ext uri="{FF2B5EF4-FFF2-40B4-BE49-F238E27FC236}">
                <a16:creationId xmlns:a16="http://schemas.microsoft.com/office/drawing/2014/main" id="{2CD01B05-030C-40B6-88F0-5E04EB19A2F0}"/>
              </a:ext>
            </a:extLst>
          </p:cNvPr>
          <p:cNvSpPr>
            <a:spLocks noGrp="1"/>
          </p:cNvSpPr>
          <p:nvPr/>
        </p:nvSpPr>
        <p:spPr>
          <a:xfrm>
            <a:off x="733425" y="89349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Information deletion / unlearning</a:t>
            </a:r>
          </a:p>
        </p:txBody>
      </p:sp>
      <p:sp>
        <p:nvSpPr>
          <p:cNvPr id="11" name="Straight Connector 10">
            <a:extLst>
              <a:ext uri="{FF2B5EF4-FFF2-40B4-BE49-F238E27FC236}">
                <a16:creationId xmlns:a16="http://schemas.microsoft.com/office/drawing/2014/main" id="{A95FEF84-909D-4A03-A200-542199635992}"/>
              </a:ext>
            </a:extLst>
          </p:cNvPr>
          <p:cNvSpPr>
            <a:spLocks noGrp="1"/>
          </p:cNvSpPr>
          <p:nvPr/>
        </p:nvSpPr>
        <p:spPr>
          <a:xfrm>
            <a:off x="542925" y="1407840"/>
            <a:ext cx="114300" cy="0"/>
          </a:xfrm>
          <a:prstGeom prst="line">
            <a:avLst/>
          </a:prstGeom>
          <a:noFill/>
          <a:ln w="14288">
            <a:solidFill>
              <a:srgbClr val="6356A4"/>
            </a:solidFill>
            <a:prstDash val="solid"/>
          </a:ln>
        </p:spPr>
        <p:txBody>
          <a:bodyPr/>
          <a:lstStyle/>
          <a:p>
            <a:endParaRPr lang="en-US"/>
          </a:p>
        </p:txBody>
      </p:sp>
      <p:sp>
        <p:nvSpPr>
          <p:cNvPr id="12" name="PC priors &amp; regularisation">
            <a:extLst>
              <a:ext uri="{FF2B5EF4-FFF2-40B4-BE49-F238E27FC236}">
                <a16:creationId xmlns:a16="http://schemas.microsoft.com/office/drawing/2014/main" id="{F3309AEB-D4AF-419E-A079-BA3240856C4C}"/>
              </a:ext>
            </a:extLst>
          </p:cNvPr>
          <p:cNvSpPr>
            <a:spLocks noGrp="1"/>
          </p:cNvSpPr>
          <p:nvPr/>
        </p:nvSpPr>
        <p:spPr>
          <a:xfrm>
            <a:off x="733425" y="1264965"/>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PC priors &amp; regularisation</a:t>
            </a:r>
          </a:p>
        </p:txBody>
      </p:sp>
      <p:sp>
        <p:nvSpPr>
          <p:cNvPr id="13" name="Straight Connector 12">
            <a:extLst>
              <a:ext uri="{FF2B5EF4-FFF2-40B4-BE49-F238E27FC236}">
                <a16:creationId xmlns:a16="http://schemas.microsoft.com/office/drawing/2014/main" id="{75C6B9E1-89D1-4456-937F-A0E4A37CB8C2}"/>
              </a:ext>
            </a:extLst>
          </p:cNvPr>
          <p:cNvSpPr>
            <a:spLocks noGrp="1"/>
          </p:cNvSpPr>
          <p:nvPr/>
        </p:nvSpPr>
        <p:spPr>
          <a:xfrm>
            <a:off x="542925" y="1779315"/>
            <a:ext cx="114300" cy="0"/>
          </a:xfrm>
          <a:prstGeom prst="line">
            <a:avLst/>
          </a:prstGeom>
          <a:noFill/>
          <a:ln w="14288">
            <a:solidFill>
              <a:srgbClr val="6356A4"/>
            </a:solidFill>
            <a:prstDash val="solid"/>
          </a:ln>
        </p:spPr>
        <p:txBody>
          <a:bodyPr/>
          <a:lstStyle/>
          <a:p>
            <a:endParaRPr lang="en-US"/>
          </a:p>
        </p:txBody>
      </p:sp>
      <p:sp>
        <p:nvSpPr>
          <p:cNvPr id="14" name="Informative correlation priors">
            <a:extLst>
              <a:ext uri="{FF2B5EF4-FFF2-40B4-BE49-F238E27FC236}">
                <a16:creationId xmlns:a16="http://schemas.microsoft.com/office/drawing/2014/main" id="{3941637A-926B-404E-B17B-80A8B0C5DD1F}"/>
              </a:ext>
            </a:extLst>
          </p:cNvPr>
          <p:cNvSpPr>
            <a:spLocks noGrp="1"/>
          </p:cNvSpPr>
          <p:nvPr/>
        </p:nvSpPr>
        <p:spPr>
          <a:xfrm>
            <a:off x="733425" y="163644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Informative correlation priors</a:t>
            </a:r>
          </a:p>
        </p:txBody>
      </p:sp>
      <p:sp>
        <p:nvSpPr>
          <p:cNvPr id="15" name="Model development">
            <a:extLst>
              <a:ext uri="{FF2B5EF4-FFF2-40B4-BE49-F238E27FC236}">
                <a16:creationId xmlns:a16="http://schemas.microsoft.com/office/drawing/2014/main" id="{B2248BAF-B792-4DFC-9ABB-2C942B23E280}"/>
              </a:ext>
            </a:extLst>
          </p:cNvPr>
          <p:cNvSpPr>
            <a:spLocks noGrp="1"/>
          </p:cNvSpPr>
          <p:nvPr/>
        </p:nvSpPr>
        <p:spPr>
          <a:xfrm>
            <a:off x="4143375" y="93390"/>
            <a:ext cx="3343275" cy="323850"/>
          </a:xfrm>
          <a:prstGeom prst="rect">
            <a:avLst/>
          </a:prstGeom>
          <a:noFill/>
          <a:ln w="0">
            <a:noFill/>
            <a:prstDash val="solid"/>
          </a:ln>
        </p:spPr>
        <p:txBody>
          <a:bodyPr wrap="none" lIns="0" tIns="0" rIns="0" bIns="0" anchor="ctr">
            <a:noAutofit/>
          </a:bodyPr>
          <a:lstStyle/>
          <a:p>
            <a:pPr algn="l">
              <a:defRPr sz="2025" b="1">
                <a:solidFill>
                  <a:srgbClr val="286DA0"/>
                </a:solidFill>
                <a:latin typeface="Arial"/>
                <a:ea typeface="Arial"/>
                <a:cs typeface="Arial"/>
              </a:defRPr>
            </a:pPr>
            <a:r>
              <a:rPr sz="2025" b="1">
                <a:solidFill>
                  <a:srgbClr val="286DA0"/>
                </a:solidFill>
                <a:latin typeface="Arial"/>
                <a:ea typeface="Arial"/>
                <a:cs typeface="Arial"/>
              </a:rPr>
              <a:t>Model development</a:t>
            </a:r>
          </a:p>
        </p:txBody>
      </p:sp>
      <p:sp>
        <p:nvSpPr>
          <p:cNvPr id="16" name="Oval 15">
            <a:extLst>
              <a:ext uri="{FF2B5EF4-FFF2-40B4-BE49-F238E27FC236}">
                <a16:creationId xmlns:a16="http://schemas.microsoft.com/office/drawing/2014/main" id="{097E1DC4-DAA3-4A59-AA54-9227E7CC38BC}"/>
              </a:ext>
            </a:extLst>
          </p:cNvPr>
          <p:cNvSpPr>
            <a:spLocks noGrp="1"/>
          </p:cNvSpPr>
          <p:nvPr/>
        </p:nvSpPr>
        <p:spPr>
          <a:xfrm>
            <a:off x="4133850" y="479153"/>
            <a:ext cx="190500" cy="190500"/>
          </a:xfrm>
          <a:prstGeom prst="ellipse">
            <a:avLst/>
          </a:prstGeom>
          <a:solidFill>
            <a:srgbClr val="FFFFFF"/>
          </a:solidFill>
          <a:ln w="28575">
            <a:solidFill>
              <a:srgbClr val="286DA0"/>
            </a:solidFill>
            <a:prstDash val="solid"/>
          </a:ln>
        </p:spPr>
        <p:txBody>
          <a:bodyPr/>
          <a:lstStyle/>
          <a:p>
            <a:endParaRPr lang="en-US"/>
          </a:p>
        </p:txBody>
      </p:sp>
      <p:sp>
        <p:nvSpPr>
          <p:cNvPr id="17" name="Straight Connector 16">
            <a:extLst>
              <a:ext uri="{FF2B5EF4-FFF2-40B4-BE49-F238E27FC236}">
                <a16:creationId xmlns:a16="http://schemas.microsoft.com/office/drawing/2014/main" id="{5DA904EC-3FC7-4CFD-AC5C-E5AB1C50E25F}"/>
              </a:ext>
            </a:extLst>
          </p:cNvPr>
          <p:cNvSpPr>
            <a:spLocks noGrp="1"/>
          </p:cNvSpPr>
          <p:nvPr/>
        </p:nvSpPr>
        <p:spPr>
          <a:xfrm>
            <a:off x="4229100" y="674415"/>
            <a:ext cx="0" cy="1104900"/>
          </a:xfrm>
          <a:prstGeom prst="line">
            <a:avLst/>
          </a:prstGeom>
          <a:noFill/>
          <a:ln w="14288">
            <a:solidFill>
              <a:srgbClr val="286DA0"/>
            </a:solidFill>
            <a:prstDash val="solid"/>
          </a:ln>
        </p:spPr>
        <p:txBody>
          <a:bodyPr/>
          <a:lstStyle/>
          <a:p>
            <a:endParaRPr lang="en-US"/>
          </a:p>
        </p:txBody>
      </p:sp>
      <p:sp>
        <p:nvSpPr>
          <p:cNvPr id="18" name="Straight Connector 17">
            <a:extLst>
              <a:ext uri="{FF2B5EF4-FFF2-40B4-BE49-F238E27FC236}">
                <a16:creationId xmlns:a16="http://schemas.microsoft.com/office/drawing/2014/main" id="{43FB54BB-661E-40B8-9270-00EB8D16373C}"/>
              </a:ext>
            </a:extLst>
          </p:cNvPr>
          <p:cNvSpPr>
            <a:spLocks noGrp="1"/>
          </p:cNvSpPr>
          <p:nvPr/>
        </p:nvSpPr>
        <p:spPr>
          <a:xfrm>
            <a:off x="4229100" y="1036365"/>
            <a:ext cx="114300" cy="0"/>
          </a:xfrm>
          <a:prstGeom prst="line">
            <a:avLst/>
          </a:prstGeom>
          <a:noFill/>
          <a:ln w="14288">
            <a:solidFill>
              <a:srgbClr val="286DA0"/>
            </a:solidFill>
            <a:prstDash val="solid"/>
          </a:ln>
        </p:spPr>
        <p:txBody>
          <a:bodyPr/>
          <a:lstStyle/>
          <a:p>
            <a:endParaRPr lang="en-US"/>
          </a:p>
        </p:txBody>
      </p:sp>
      <p:sp>
        <p:nvSpPr>
          <p:cNvPr id="19" name="Latent variables: SEM, CFA, IRT">
            <a:extLst>
              <a:ext uri="{FF2B5EF4-FFF2-40B4-BE49-F238E27FC236}">
                <a16:creationId xmlns:a16="http://schemas.microsoft.com/office/drawing/2014/main" id="{FCDFBCB8-ABFD-43B2-BD63-810E34034354}"/>
              </a:ext>
            </a:extLst>
          </p:cNvPr>
          <p:cNvSpPr>
            <a:spLocks noGrp="1"/>
          </p:cNvSpPr>
          <p:nvPr/>
        </p:nvSpPr>
        <p:spPr>
          <a:xfrm>
            <a:off x="4419600" y="89349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Latent variables: SEM, CFA, IRT</a:t>
            </a:r>
          </a:p>
        </p:txBody>
      </p:sp>
      <p:sp>
        <p:nvSpPr>
          <p:cNvPr id="20" name="Straight Connector 19">
            <a:extLst>
              <a:ext uri="{FF2B5EF4-FFF2-40B4-BE49-F238E27FC236}">
                <a16:creationId xmlns:a16="http://schemas.microsoft.com/office/drawing/2014/main" id="{FF0E473F-797C-47B6-9CF9-BDFB0F7F3ED4}"/>
              </a:ext>
            </a:extLst>
          </p:cNvPr>
          <p:cNvSpPr>
            <a:spLocks noGrp="1"/>
          </p:cNvSpPr>
          <p:nvPr/>
        </p:nvSpPr>
        <p:spPr>
          <a:xfrm>
            <a:off x="4229100" y="1407840"/>
            <a:ext cx="114300" cy="0"/>
          </a:xfrm>
          <a:prstGeom prst="line">
            <a:avLst/>
          </a:prstGeom>
          <a:noFill/>
          <a:ln w="14288">
            <a:solidFill>
              <a:srgbClr val="286DA0"/>
            </a:solidFill>
            <a:prstDash val="solid"/>
          </a:ln>
        </p:spPr>
        <p:txBody>
          <a:bodyPr/>
          <a:lstStyle/>
          <a:p>
            <a:endParaRPr lang="en-US"/>
          </a:p>
        </p:txBody>
      </p:sp>
      <p:sp>
        <p:nvSpPr>
          <p:cNvPr id="21" name="Spatio-temporal / point processes">
            <a:extLst>
              <a:ext uri="{FF2B5EF4-FFF2-40B4-BE49-F238E27FC236}">
                <a16:creationId xmlns:a16="http://schemas.microsoft.com/office/drawing/2014/main" id="{B587E0C3-F799-4F46-B80F-1108FF048E37}"/>
              </a:ext>
            </a:extLst>
          </p:cNvPr>
          <p:cNvSpPr>
            <a:spLocks noGrp="1"/>
          </p:cNvSpPr>
          <p:nvPr/>
        </p:nvSpPr>
        <p:spPr>
          <a:xfrm>
            <a:off x="4419600" y="1264965"/>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Spatio-temporal / point processes</a:t>
            </a:r>
          </a:p>
        </p:txBody>
      </p:sp>
      <p:sp>
        <p:nvSpPr>
          <p:cNvPr id="22" name="Straight Connector 21">
            <a:extLst>
              <a:ext uri="{FF2B5EF4-FFF2-40B4-BE49-F238E27FC236}">
                <a16:creationId xmlns:a16="http://schemas.microsoft.com/office/drawing/2014/main" id="{74FDDCCF-4CFE-4491-819C-3F6C0CB1B160}"/>
              </a:ext>
            </a:extLst>
          </p:cNvPr>
          <p:cNvSpPr>
            <a:spLocks noGrp="1"/>
          </p:cNvSpPr>
          <p:nvPr/>
        </p:nvSpPr>
        <p:spPr>
          <a:xfrm>
            <a:off x="4229100" y="1779315"/>
            <a:ext cx="114300" cy="0"/>
          </a:xfrm>
          <a:prstGeom prst="line">
            <a:avLst/>
          </a:prstGeom>
          <a:noFill/>
          <a:ln w="14288">
            <a:solidFill>
              <a:srgbClr val="286DA0"/>
            </a:solidFill>
            <a:prstDash val="solid"/>
          </a:ln>
        </p:spPr>
        <p:txBody>
          <a:bodyPr/>
          <a:lstStyle/>
          <a:p>
            <a:endParaRPr lang="en-US"/>
          </a:p>
        </p:txBody>
      </p:sp>
      <p:sp>
        <p:nvSpPr>
          <p:cNvPr id="23" name="Joint longitudinal–survival models">
            <a:extLst>
              <a:ext uri="{FF2B5EF4-FFF2-40B4-BE49-F238E27FC236}">
                <a16:creationId xmlns:a16="http://schemas.microsoft.com/office/drawing/2014/main" id="{8C65861F-E726-409E-AC94-48C5631E1CC0}"/>
              </a:ext>
            </a:extLst>
          </p:cNvPr>
          <p:cNvSpPr>
            <a:spLocks noGrp="1"/>
          </p:cNvSpPr>
          <p:nvPr/>
        </p:nvSpPr>
        <p:spPr>
          <a:xfrm>
            <a:off x="4419600" y="163644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Joint longitudinal–survival models</a:t>
            </a:r>
          </a:p>
        </p:txBody>
      </p:sp>
      <p:sp>
        <p:nvSpPr>
          <p:cNvPr id="24" name="Inference &amp; assessment">
            <a:extLst>
              <a:ext uri="{FF2B5EF4-FFF2-40B4-BE49-F238E27FC236}">
                <a16:creationId xmlns:a16="http://schemas.microsoft.com/office/drawing/2014/main" id="{F358A1FB-4BEC-43E6-BB74-74D723AE9F76}"/>
              </a:ext>
            </a:extLst>
          </p:cNvPr>
          <p:cNvSpPr>
            <a:spLocks noGrp="1"/>
          </p:cNvSpPr>
          <p:nvPr/>
        </p:nvSpPr>
        <p:spPr>
          <a:xfrm>
            <a:off x="7829550" y="93390"/>
            <a:ext cx="3343275" cy="323850"/>
          </a:xfrm>
          <a:prstGeom prst="rect">
            <a:avLst/>
          </a:prstGeom>
          <a:noFill/>
          <a:ln w="0">
            <a:noFill/>
            <a:prstDash val="solid"/>
          </a:ln>
        </p:spPr>
        <p:txBody>
          <a:bodyPr wrap="none" lIns="0" tIns="0" rIns="0" bIns="0" anchor="ctr">
            <a:noAutofit/>
          </a:bodyPr>
          <a:lstStyle/>
          <a:p>
            <a:pPr algn="l">
              <a:defRPr sz="2025" b="1">
                <a:solidFill>
                  <a:srgbClr val="008A8C"/>
                </a:solidFill>
                <a:latin typeface="Arial"/>
                <a:ea typeface="Arial"/>
                <a:cs typeface="Arial"/>
              </a:defRPr>
            </a:pPr>
            <a:r>
              <a:rPr sz="2025" b="1">
                <a:solidFill>
                  <a:srgbClr val="008A8C"/>
                </a:solidFill>
                <a:latin typeface="Arial"/>
                <a:ea typeface="Arial"/>
                <a:cs typeface="Arial"/>
              </a:rPr>
              <a:t>Inference &amp; assessment</a:t>
            </a:r>
          </a:p>
        </p:txBody>
      </p:sp>
      <p:sp>
        <p:nvSpPr>
          <p:cNvPr id="25" name="Oval 24">
            <a:extLst>
              <a:ext uri="{FF2B5EF4-FFF2-40B4-BE49-F238E27FC236}">
                <a16:creationId xmlns:a16="http://schemas.microsoft.com/office/drawing/2014/main" id="{304B9CB3-C5A0-4CFE-BBDF-85188759D512}"/>
              </a:ext>
            </a:extLst>
          </p:cNvPr>
          <p:cNvSpPr>
            <a:spLocks noGrp="1"/>
          </p:cNvSpPr>
          <p:nvPr/>
        </p:nvSpPr>
        <p:spPr>
          <a:xfrm>
            <a:off x="7820025" y="479153"/>
            <a:ext cx="190500" cy="190500"/>
          </a:xfrm>
          <a:prstGeom prst="ellipse">
            <a:avLst/>
          </a:prstGeom>
          <a:solidFill>
            <a:srgbClr val="FFFFFF"/>
          </a:solidFill>
          <a:ln w="28575">
            <a:solidFill>
              <a:srgbClr val="008A8C"/>
            </a:solidFill>
            <a:prstDash val="solid"/>
          </a:ln>
        </p:spPr>
        <p:txBody>
          <a:bodyPr/>
          <a:lstStyle/>
          <a:p>
            <a:endParaRPr lang="en-US"/>
          </a:p>
        </p:txBody>
      </p:sp>
      <p:sp>
        <p:nvSpPr>
          <p:cNvPr id="26" name="Straight Connector 25">
            <a:extLst>
              <a:ext uri="{FF2B5EF4-FFF2-40B4-BE49-F238E27FC236}">
                <a16:creationId xmlns:a16="http://schemas.microsoft.com/office/drawing/2014/main" id="{7F2D82AF-88D3-4084-9FAA-08E0E1615B22}"/>
              </a:ext>
            </a:extLst>
          </p:cNvPr>
          <p:cNvSpPr>
            <a:spLocks noGrp="1"/>
          </p:cNvSpPr>
          <p:nvPr/>
        </p:nvSpPr>
        <p:spPr>
          <a:xfrm>
            <a:off x="7915275" y="674415"/>
            <a:ext cx="0" cy="1104900"/>
          </a:xfrm>
          <a:prstGeom prst="line">
            <a:avLst/>
          </a:prstGeom>
          <a:noFill/>
          <a:ln w="14288">
            <a:solidFill>
              <a:srgbClr val="008A8C"/>
            </a:solidFill>
            <a:prstDash val="solid"/>
          </a:ln>
        </p:spPr>
        <p:txBody>
          <a:bodyPr/>
          <a:lstStyle/>
          <a:p>
            <a:endParaRPr lang="en-US"/>
          </a:p>
        </p:txBody>
      </p:sp>
      <p:sp>
        <p:nvSpPr>
          <p:cNvPr id="27" name="Straight Connector 26">
            <a:extLst>
              <a:ext uri="{FF2B5EF4-FFF2-40B4-BE49-F238E27FC236}">
                <a16:creationId xmlns:a16="http://schemas.microsoft.com/office/drawing/2014/main" id="{42201C0D-314C-4BF4-9A80-6C49E3B7ABC2}"/>
              </a:ext>
            </a:extLst>
          </p:cNvPr>
          <p:cNvSpPr>
            <a:spLocks noGrp="1"/>
          </p:cNvSpPr>
          <p:nvPr/>
        </p:nvSpPr>
        <p:spPr>
          <a:xfrm>
            <a:off x="7915275" y="1036365"/>
            <a:ext cx="114300" cy="0"/>
          </a:xfrm>
          <a:prstGeom prst="line">
            <a:avLst/>
          </a:prstGeom>
          <a:noFill/>
          <a:ln w="14288">
            <a:solidFill>
              <a:srgbClr val="008A8C"/>
            </a:solidFill>
            <a:prstDash val="solid"/>
          </a:ln>
        </p:spPr>
        <p:txBody>
          <a:bodyPr/>
          <a:lstStyle/>
          <a:p>
            <a:endParaRPr lang="en-US"/>
          </a:p>
        </p:txBody>
      </p:sp>
      <p:sp>
        <p:nvSpPr>
          <p:cNvPr id="28" name="INLA &amp; variational Bayes">
            <a:extLst>
              <a:ext uri="{FF2B5EF4-FFF2-40B4-BE49-F238E27FC236}">
                <a16:creationId xmlns:a16="http://schemas.microsoft.com/office/drawing/2014/main" id="{805DA767-63D1-4A9E-983A-817CD1B2C4F4}"/>
              </a:ext>
            </a:extLst>
          </p:cNvPr>
          <p:cNvSpPr>
            <a:spLocks noGrp="1"/>
          </p:cNvSpPr>
          <p:nvPr/>
        </p:nvSpPr>
        <p:spPr>
          <a:xfrm>
            <a:off x="8105775" y="89349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INLA &amp; variational Bayes</a:t>
            </a:r>
          </a:p>
        </p:txBody>
      </p:sp>
      <p:sp>
        <p:nvSpPr>
          <p:cNvPr id="29" name="Straight Connector 28">
            <a:extLst>
              <a:ext uri="{FF2B5EF4-FFF2-40B4-BE49-F238E27FC236}">
                <a16:creationId xmlns:a16="http://schemas.microsoft.com/office/drawing/2014/main" id="{54A5DA47-E144-4B91-8F17-F3141B3BA777}"/>
              </a:ext>
            </a:extLst>
          </p:cNvPr>
          <p:cNvSpPr>
            <a:spLocks noGrp="1"/>
          </p:cNvSpPr>
          <p:nvPr/>
        </p:nvSpPr>
        <p:spPr>
          <a:xfrm>
            <a:off x="7915275" y="1407840"/>
            <a:ext cx="114300" cy="0"/>
          </a:xfrm>
          <a:prstGeom prst="line">
            <a:avLst/>
          </a:prstGeom>
          <a:noFill/>
          <a:ln w="14288">
            <a:solidFill>
              <a:srgbClr val="008A8C"/>
            </a:solidFill>
            <a:prstDash val="solid"/>
          </a:ln>
        </p:spPr>
        <p:txBody>
          <a:bodyPr/>
          <a:lstStyle/>
          <a:p>
            <a:endParaRPr lang="en-US"/>
          </a:p>
        </p:txBody>
      </p:sp>
      <p:sp>
        <p:nvSpPr>
          <p:cNvPr id="30" name="Cross-validation &amp; prediction">
            <a:extLst>
              <a:ext uri="{FF2B5EF4-FFF2-40B4-BE49-F238E27FC236}">
                <a16:creationId xmlns:a16="http://schemas.microsoft.com/office/drawing/2014/main" id="{63AA61F4-461B-4FCA-A63F-C10669A411EE}"/>
              </a:ext>
            </a:extLst>
          </p:cNvPr>
          <p:cNvSpPr>
            <a:spLocks noGrp="1"/>
          </p:cNvSpPr>
          <p:nvPr/>
        </p:nvSpPr>
        <p:spPr>
          <a:xfrm>
            <a:off x="8105775" y="1264965"/>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Cross-validation &amp; prediction</a:t>
            </a:r>
          </a:p>
        </p:txBody>
      </p:sp>
      <p:sp>
        <p:nvSpPr>
          <p:cNvPr id="31" name="Straight Connector 30">
            <a:extLst>
              <a:ext uri="{FF2B5EF4-FFF2-40B4-BE49-F238E27FC236}">
                <a16:creationId xmlns:a16="http://schemas.microsoft.com/office/drawing/2014/main" id="{31B8D2CA-B61E-4F2D-BC4B-28F2DA021E24}"/>
              </a:ext>
            </a:extLst>
          </p:cNvPr>
          <p:cNvSpPr>
            <a:spLocks noGrp="1"/>
          </p:cNvSpPr>
          <p:nvPr/>
        </p:nvSpPr>
        <p:spPr>
          <a:xfrm>
            <a:off x="7915275" y="1779315"/>
            <a:ext cx="114300" cy="0"/>
          </a:xfrm>
          <a:prstGeom prst="line">
            <a:avLst/>
          </a:prstGeom>
          <a:noFill/>
          <a:ln w="14288">
            <a:solidFill>
              <a:srgbClr val="008A8C"/>
            </a:solidFill>
            <a:prstDash val="solid"/>
          </a:ln>
        </p:spPr>
        <p:txBody>
          <a:bodyPr/>
          <a:lstStyle/>
          <a:p>
            <a:endParaRPr lang="en-US"/>
          </a:p>
        </p:txBody>
      </p:sp>
      <p:sp>
        <p:nvSpPr>
          <p:cNvPr id="32" name="Model checking &amp; robustness">
            <a:extLst>
              <a:ext uri="{FF2B5EF4-FFF2-40B4-BE49-F238E27FC236}">
                <a16:creationId xmlns:a16="http://schemas.microsoft.com/office/drawing/2014/main" id="{58D1DCD9-6E4C-4C79-BEA5-6E4C04776097}"/>
              </a:ext>
            </a:extLst>
          </p:cNvPr>
          <p:cNvSpPr>
            <a:spLocks noGrp="1"/>
          </p:cNvSpPr>
          <p:nvPr/>
        </p:nvSpPr>
        <p:spPr>
          <a:xfrm>
            <a:off x="8105775" y="163644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Model checking &amp; robustness</a:t>
            </a:r>
          </a:p>
        </p:txBody>
      </p:sp>
      <p:sp>
        <p:nvSpPr>
          <p:cNvPr id="33" name="Scalable computation">
            <a:extLst>
              <a:ext uri="{FF2B5EF4-FFF2-40B4-BE49-F238E27FC236}">
                <a16:creationId xmlns:a16="http://schemas.microsoft.com/office/drawing/2014/main" id="{9B922138-BD39-474F-85A4-53D908EBC089}"/>
              </a:ext>
            </a:extLst>
          </p:cNvPr>
          <p:cNvSpPr>
            <a:spLocks noGrp="1"/>
          </p:cNvSpPr>
          <p:nvPr/>
        </p:nvSpPr>
        <p:spPr>
          <a:xfrm>
            <a:off x="11515725" y="93390"/>
            <a:ext cx="3343275" cy="323850"/>
          </a:xfrm>
          <a:prstGeom prst="rect">
            <a:avLst/>
          </a:prstGeom>
          <a:noFill/>
          <a:ln w="0">
            <a:noFill/>
            <a:prstDash val="solid"/>
          </a:ln>
        </p:spPr>
        <p:txBody>
          <a:bodyPr wrap="none" lIns="0" tIns="0" rIns="0" bIns="0" anchor="ctr">
            <a:noAutofit/>
          </a:bodyPr>
          <a:lstStyle/>
          <a:p>
            <a:pPr algn="l">
              <a:defRPr sz="2025" b="1">
                <a:solidFill>
                  <a:srgbClr val="B87521"/>
                </a:solidFill>
                <a:latin typeface="Arial"/>
                <a:ea typeface="Arial"/>
                <a:cs typeface="Arial"/>
              </a:defRPr>
            </a:pPr>
            <a:r>
              <a:rPr sz="2025" b="1">
                <a:solidFill>
                  <a:srgbClr val="B87521"/>
                </a:solidFill>
                <a:latin typeface="Arial"/>
                <a:ea typeface="Arial"/>
                <a:cs typeface="Arial"/>
              </a:rPr>
              <a:t>Scalable computation</a:t>
            </a:r>
          </a:p>
        </p:txBody>
      </p:sp>
      <p:sp>
        <p:nvSpPr>
          <p:cNvPr id="34" name="Oval 33">
            <a:extLst>
              <a:ext uri="{FF2B5EF4-FFF2-40B4-BE49-F238E27FC236}">
                <a16:creationId xmlns:a16="http://schemas.microsoft.com/office/drawing/2014/main" id="{11BE5584-1CDC-4E21-BE91-4D798988EA0F}"/>
              </a:ext>
            </a:extLst>
          </p:cNvPr>
          <p:cNvSpPr>
            <a:spLocks noGrp="1"/>
          </p:cNvSpPr>
          <p:nvPr/>
        </p:nvSpPr>
        <p:spPr>
          <a:xfrm>
            <a:off x="11506200" y="479153"/>
            <a:ext cx="190500" cy="190500"/>
          </a:xfrm>
          <a:prstGeom prst="ellipse">
            <a:avLst/>
          </a:prstGeom>
          <a:solidFill>
            <a:srgbClr val="FFFFFF"/>
          </a:solidFill>
          <a:ln w="28575">
            <a:solidFill>
              <a:srgbClr val="B87521"/>
            </a:solidFill>
            <a:prstDash val="solid"/>
          </a:ln>
        </p:spPr>
        <p:txBody>
          <a:bodyPr/>
          <a:lstStyle/>
          <a:p>
            <a:endParaRPr lang="en-US"/>
          </a:p>
        </p:txBody>
      </p:sp>
      <p:sp>
        <p:nvSpPr>
          <p:cNvPr id="35" name="Straight Connector 34">
            <a:extLst>
              <a:ext uri="{FF2B5EF4-FFF2-40B4-BE49-F238E27FC236}">
                <a16:creationId xmlns:a16="http://schemas.microsoft.com/office/drawing/2014/main" id="{5D592A34-B05B-468B-8418-FEB9FC9EBF13}"/>
              </a:ext>
            </a:extLst>
          </p:cNvPr>
          <p:cNvSpPr>
            <a:spLocks noGrp="1"/>
          </p:cNvSpPr>
          <p:nvPr/>
        </p:nvSpPr>
        <p:spPr>
          <a:xfrm>
            <a:off x="11601450" y="674415"/>
            <a:ext cx="0" cy="1104900"/>
          </a:xfrm>
          <a:prstGeom prst="line">
            <a:avLst/>
          </a:prstGeom>
          <a:noFill/>
          <a:ln w="14288">
            <a:solidFill>
              <a:srgbClr val="B87521"/>
            </a:solidFill>
            <a:prstDash val="solid"/>
          </a:ln>
        </p:spPr>
        <p:txBody>
          <a:bodyPr/>
          <a:lstStyle/>
          <a:p>
            <a:endParaRPr lang="en-US"/>
          </a:p>
        </p:txBody>
      </p:sp>
      <p:sp>
        <p:nvSpPr>
          <p:cNvPr id="36" name="Straight Connector 35">
            <a:extLst>
              <a:ext uri="{FF2B5EF4-FFF2-40B4-BE49-F238E27FC236}">
                <a16:creationId xmlns:a16="http://schemas.microsoft.com/office/drawing/2014/main" id="{46E9FE06-6F2B-4882-B12C-63262979C65E}"/>
              </a:ext>
            </a:extLst>
          </p:cNvPr>
          <p:cNvSpPr>
            <a:spLocks noGrp="1"/>
          </p:cNvSpPr>
          <p:nvPr/>
        </p:nvSpPr>
        <p:spPr>
          <a:xfrm>
            <a:off x="11601450" y="1036365"/>
            <a:ext cx="114300" cy="0"/>
          </a:xfrm>
          <a:prstGeom prst="line">
            <a:avLst/>
          </a:prstGeom>
          <a:noFill/>
          <a:ln w="14288">
            <a:solidFill>
              <a:srgbClr val="B87521"/>
            </a:solidFill>
            <a:prstDash val="solid"/>
          </a:ln>
        </p:spPr>
        <p:txBody>
          <a:bodyPr/>
          <a:lstStyle/>
          <a:p>
            <a:endParaRPr lang="en-US"/>
          </a:p>
        </p:txBody>
      </p:sp>
      <p:sp>
        <p:nvSpPr>
          <p:cNvPr id="37" name="Sparse solvers">
            <a:extLst>
              <a:ext uri="{FF2B5EF4-FFF2-40B4-BE49-F238E27FC236}">
                <a16:creationId xmlns:a16="http://schemas.microsoft.com/office/drawing/2014/main" id="{EEA950A4-8E42-4606-9F0B-48232DDC8864}"/>
              </a:ext>
            </a:extLst>
          </p:cNvPr>
          <p:cNvSpPr>
            <a:spLocks noGrp="1"/>
          </p:cNvSpPr>
          <p:nvPr/>
        </p:nvSpPr>
        <p:spPr>
          <a:xfrm>
            <a:off x="11791950" y="89349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Sparse solvers</a:t>
            </a:r>
          </a:p>
        </p:txBody>
      </p:sp>
      <p:sp>
        <p:nvSpPr>
          <p:cNvPr id="38" name="Straight Connector 37">
            <a:extLst>
              <a:ext uri="{FF2B5EF4-FFF2-40B4-BE49-F238E27FC236}">
                <a16:creationId xmlns:a16="http://schemas.microsoft.com/office/drawing/2014/main" id="{B890E1A8-DCCA-46B8-896C-80A8F36D132F}"/>
              </a:ext>
            </a:extLst>
          </p:cNvPr>
          <p:cNvSpPr>
            <a:spLocks noGrp="1"/>
          </p:cNvSpPr>
          <p:nvPr/>
        </p:nvSpPr>
        <p:spPr>
          <a:xfrm>
            <a:off x="11601450" y="1407840"/>
            <a:ext cx="114300" cy="0"/>
          </a:xfrm>
          <a:prstGeom prst="line">
            <a:avLst/>
          </a:prstGeom>
          <a:noFill/>
          <a:ln w="14288">
            <a:solidFill>
              <a:srgbClr val="B87521"/>
            </a:solidFill>
            <a:prstDash val="solid"/>
          </a:ln>
        </p:spPr>
        <p:txBody>
          <a:bodyPr/>
          <a:lstStyle/>
          <a:p>
            <a:endParaRPr lang="en-US"/>
          </a:p>
        </p:txBody>
      </p:sp>
      <p:sp>
        <p:nvSpPr>
          <p:cNvPr id="39" name="Automatic differentiation">
            <a:extLst>
              <a:ext uri="{FF2B5EF4-FFF2-40B4-BE49-F238E27FC236}">
                <a16:creationId xmlns:a16="http://schemas.microsoft.com/office/drawing/2014/main" id="{4D46FD86-51FD-4C22-9A4D-96692BD89E33}"/>
              </a:ext>
            </a:extLst>
          </p:cNvPr>
          <p:cNvSpPr>
            <a:spLocks noGrp="1"/>
          </p:cNvSpPr>
          <p:nvPr/>
        </p:nvSpPr>
        <p:spPr>
          <a:xfrm>
            <a:off x="11791950" y="1264965"/>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Automatic differentiation</a:t>
            </a:r>
          </a:p>
        </p:txBody>
      </p:sp>
      <p:sp>
        <p:nvSpPr>
          <p:cNvPr id="40" name="Straight Connector 39">
            <a:extLst>
              <a:ext uri="{FF2B5EF4-FFF2-40B4-BE49-F238E27FC236}">
                <a16:creationId xmlns:a16="http://schemas.microsoft.com/office/drawing/2014/main" id="{A9C97784-903C-4765-A246-CB92E55018A4}"/>
              </a:ext>
            </a:extLst>
          </p:cNvPr>
          <p:cNvSpPr>
            <a:spLocks noGrp="1"/>
          </p:cNvSpPr>
          <p:nvPr/>
        </p:nvSpPr>
        <p:spPr>
          <a:xfrm>
            <a:off x="11601450" y="1779315"/>
            <a:ext cx="114300" cy="0"/>
          </a:xfrm>
          <a:prstGeom prst="line">
            <a:avLst/>
          </a:prstGeom>
          <a:noFill/>
          <a:ln w="14288">
            <a:solidFill>
              <a:srgbClr val="B87521"/>
            </a:solidFill>
            <a:prstDash val="solid"/>
          </a:ln>
        </p:spPr>
        <p:txBody>
          <a:bodyPr/>
          <a:lstStyle/>
          <a:p>
            <a:endParaRPr lang="en-US"/>
          </a:p>
        </p:txBody>
      </p:sp>
      <p:sp>
        <p:nvSpPr>
          <p:cNvPr id="41" name="GPU &amp; distributed computing">
            <a:extLst>
              <a:ext uri="{FF2B5EF4-FFF2-40B4-BE49-F238E27FC236}">
                <a16:creationId xmlns:a16="http://schemas.microsoft.com/office/drawing/2014/main" id="{3530DB5B-1E83-4284-B970-A511D5B10C8C}"/>
              </a:ext>
            </a:extLst>
          </p:cNvPr>
          <p:cNvSpPr>
            <a:spLocks noGrp="1"/>
          </p:cNvSpPr>
          <p:nvPr/>
        </p:nvSpPr>
        <p:spPr>
          <a:xfrm>
            <a:off x="11791950" y="1636440"/>
            <a:ext cx="3190875" cy="285750"/>
          </a:xfrm>
          <a:prstGeom prst="rect">
            <a:avLst/>
          </a:prstGeom>
          <a:noFill/>
          <a:ln w="0">
            <a:noFill/>
            <a:prstDash val="solid"/>
          </a:ln>
        </p:spPr>
        <p:txBody>
          <a:bodyPr wrap="none" lIns="0" tIns="0" rIns="0" bIns="0" anchor="ctr">
            <a:noAutofit/>
          </a:bodyPr>
          <a:lstStyle/>
          <a:p>
            <a:pPr algn="l">
              <a:defRPr sz="1575" b="0">
                <a:solidFill>
                  <a:srgbClr val="142C42"/>
                </a:solidFill>
                <a:latin typeface="Arial"/>
                <a:ea typeface="Arial"/>
                <a:cs typeface="Arial"/>
              </a:defRPr>
            </a:pPr>
            <a:r>
              <a:rPr sz="1575" b="0">
                <a:solidFill>
                  <a:srgbClr val="142C42"/>
                </a:solidFill>
                <a:latin typeface="Arial"/>
                <a:ea typeface="Arial"/>
                <a:cs typeface="Arial"/>
              </a:rPr>
              <a:t>GPU &amp; distributed computing</a:t>
            </a:r>
          </a:p>
        </p:txBody>
      </p:sp>
      <p:sp>
        <p:nvSpPr>
          <p:cNvPr id="42" name="Straight Connector 41">
            <a:extLst>
              <a:ext uri="{FF2B5EF4-FFF2-40B4-BE49-F238E27FC236}">
                <a16:creationId xmlns:a16="http://schemas.microsoft.com/office/drawing/2014/main" id="{89AD57B3-2EFC-4C7F-B0CC-6DA66F6F9CBD}"/>
              </a:ext>
            </a:extLst>
          </p:cNvPr>
          <p:cNvSpPr>
            <a:spLocks noGrp="1"/>
          </p:cNvSpPr>
          <p:nvPr/>
        </p:nvSpPr>
        <p:spPr>
          <a:xfrm>
            <a:off x="542925" y="2131740"/>
            <a:ext cx="14154150" cy="0"/>
          </a:xfrm>
          <a:prstGeom prst="line">
            <a:avLst/>
          </a:prstGeom>
          <a:noFill/>
          <a:ln w="11430">
            <a:solidFill>
              <a:srgbClr val="B3C1CC"/>
            </a:solidFill>
            <a:prstDash val="solid"/>
          </a:ln>
        </p:spPr>
        <p:txBody>
          <a:bodyPr/>
          <a:lstStyle/>
          <a:p>
            <a:endParaRPr lang="en-US"/>
          </a:p>
        </p:txBody>
      </p:sp>
      <p:sp>
        <p:nvSpPr>
          <p:cNvPr id="43" name="Straight Connector 42">
            <a:extLst>
              <a:ext uri="{FF2B5EF4-FFF2-40B4-BE49-F238E27FC236}">
                <a16:creationId xmlns:a16="http://schemas.microsoft.com/office/drawing/2014/main" id="{519BA76A-C7BD-46FF-B625-83C3821C54A3}"/>
              </a:ext>
            </a:extLst>
          </p:cNvPr>
          <p:cNvSpPr>
            <a:spLocks noGrp="1"/>
          </p:cNvSpPr>
          <p:nvPr/>
        </p:nvSpPr>
        <p:spPr>
          <a:xfrm>
            <a:off x="542925" y="2055540"/>
            <a:ext cx="0" cy="76200"/>
          </a:xfrm>
          <a:prstGeom prst="line">
            <a:avLst/>
          </a:prstGeom>
          <a:noFill/>
          <a:ln w="11430">
            <a:solidFill>
              <a:srgbClr val="B3C1CC"/>
            </a:solidFill>
            <a:prstDash val="solid"/>
          </a:ln>
        </p:spPr>
        <p:txBody>
          <a:bodyPr/>
          <a:lstStyle/>
          <a:p>
            <a:endParaRPr lang="en-US"/>
          </a:p>
        </p:txBody>
      </p:sp>
      <p:sp>
        <p:nvSpPr>
          <p:cNvPr id="44" name="Straight Connector 43">
            <a:extLst>
              <a:ext uri="{FF2B5EF4-FFF2-40B4-BE49-F238E27FC236}">
                <a16:creationId xmlns:a16="http://schemas.microsoft.com/office/drawing/2014/main" id="{9ACEC7C9-11A3-4A72-8BF8-96E5ACE46B4F}"/>
              </a:ext>
            </a:extLst>
          </p:cNvPr>
          <p:cNvSpPr>
            <a:spLocks noGrp="1"/>
          </p:cNvSpPr>
          <p:nvPr/>
        </p:nvSpPr>
        <p:spPr>
          <a:xfrm>
            <a:off x="4229100" y="2055540"/>
            <a:ext cx="0" cy="76200"/>
          </a:xfrm>
          <a:prstGeom prst="line">
            <a:avLst/>
          </a:prstGeom>
          <a:noFill/>
          <a:ln w="11430">
            <a:solidFill>
              <a:srgbClr val="B3C1CC"/>
            </a:solidFill>
            <a:prstDash val="solid"/>
          </a:ln>
        </p:spPr>
        <p:txBody>
          <a:bodyPr/>
          <a:lstStyle/>
          <a:p>
            <a:endParaRPr lang="en-US"/>
          </a:p>
        </p:txBody>
      </p:sp>
      <p:sp>
        <p:nvSpPr>
          <p:cNvPr id="45" name="Straight Connector 44">
            <a:extLst>
              <a:ext uri="{FF2B5EF4-FFF2-40B4-BE49-F238E27FC236}">
                <a16:creationId xmlns:a16="http://schemas.microsoft.com/office/drawing/2014/main" id="{38216476-A299-4F3B-A3F9-90208D0AEA71}"/>
              </a:ext>
            </a:extLst>
          </p:cNvPr>
          <p:cNvSpPr>
            <a:spLocks noGrp="1"/>
          </p:cNvSpPr>
          <p:nvPr/>
        </p:nvSpPr>
        <p:spPr>
          <a:xfrm>
            <a:off x="7915275" y="2055540"/>
            <a:ext cx="0" cy="76200"/>
          </a:xfrm>
          <a:prstGeom prst="line">
            <a:avLst/>
          </a:prstGeom>
          <a:noFill/>
          <a:ln w="11430">
            <a:solidFill>
              <a:srgbClr val="B3C1CC"/>
            </a:solidFill>
            <a:prstDash val="solid"/>
          </a:ln>
        </p:spPr>
        <p:txBody>
          <a:bodyPr/>
          <a:lstStyle/>
          <a:p>
            <a:endParaRPr lang="en-US"/>
          </a:p>
        </p:txBody>
      </p:sp>
      <p:sp>
        <p:nvSpPr>
          <p:cNvPr id="46" name="Straight Connector 45">
            <a:extLst>
              <a:ext uri="{FF2B5EF4-FFF2-40B4-BE49-F238E27FC236}">
                <a16:creationId xmlns:a16="http://schemas.microsoft.com/office/drawing/2014/main" id="{2229ED9B-50C9-4C0A-87DF-BCE37C90C5A4}"/>
              </a:ext>
            </a:extLst>
          </p:cNvPr>
          <p:cNvSpPr>
            <a:spLocks noGrp="1"/>
          </p:cNvSpPr>
          <p:nvPr/>
        </p:nvSpPr>
        <p:spPr>
          <a:xfrm>
            <a:off x="11601450" y="2055540"/>
            <a:ext cx="0" cy="76200"/>
          </a:xfrm>
          <a:prstGeom prst="line">
            <a:avLst/>
          </a:prstGeom>
          <a:noFill/>
          <a:ln w="11430">
            <a:solidFill>
              <a:srgbClr val="B3C1CC"/>
            </a:solidFill>
            <a:prstDash val="solid"/>
          </a:ln>
        </p:spPr>
        <p:txBody>
          <a:bodyPr/>
          <a:lstStyle/>
          <a:p>
            <a:endParaRPr lang="en-US"/>
          </a:p>
        </p:txBody>
      </p:sp>
      <p:sp>
        <p:nvSpPr>
          <p:cNvPr id="52" name="Rectangle 51">
            <a:extLst>
              <a:ext uri="{FF2B5EF4-FFF2-40B4-BE49-F238E27FC236}">
                <a16:creationId xmlns:a16="http://schemas.microsoft.com/office/drawing/2014/main" id="{61F04A81-1171-46AE-8238-F198C0996084}"/>
              </a:ext>
            </a:extLst>
          </p:cNvPr>
          <p:cNvSpPr>
            <a:spLocks noGrp="1"/>
          </p:cNvSpPr>
          <p:nvPr/>
        </p:nvSpPr>
        <p:spPr>
          <a:xfrm>
            <a:off x="533400" y="2470068"/>
            <a:ext cx="14325600" cy="1531911"/>
          </a:xfrm>
          <a:prstGeom prst="rect">
            <a:avLst/>
          </a:prstGeom>
          <a:solidFill>
            <a:srgbClr val="F0F5F7"/>
          </a:solidFill>
          <a:ln w="0">
            <a:noFill/>
            <a:prstDash val="solid"/>
          </a:ln>
        </p:spPr>
        <p:txBody>
          <a:bodyPr/>
          <a:lstStyle/>
          <a:p>
            <a:endParaRPr lang="en-US"/>
          </a:p>
        </p:txBody>
      </p:sp>
      <p:sp>
        <p:nvSpPr>
          <p:cNvPr id="53" name="APPLICATIONS">
            <a:extLst>
              <a:ext uri="{FF2B5EF4-FFF2-40B4-BE49-F238E27FC236}">
                <a16:creationId xmlns:a16="http://schemas.microsoft.com/office/drawing/2014/main" id="{51ECD2DE-A4A4-4E93-85BE-B418A706300A}"/>
              </a:ext>
            </a:extLst>
          </p:cNvPr>
          <p:cNvSpPr>
            <a:spLocks noGrp="1"/>
          </p:cNvSpPr>
          <p:nvPr/>
        </p:nvSpPr>
        <p:spPr>
          <a:xfrm>
            <a:off x="657225" y="3151905"/>
            <a:ext cx="1800225" cy="238125"/>
          </a:xfrm>
          <a:prstGeom prst="rect">
            <a:avLst/>
          </a:prstGeom>
          <a:noFill/>
          <a:ln w="0">
            <a:noFill/>
            <a:prstDash val="solid"/>
          </a:ln>
        </p:spPr>
        <p:txBody>
          <a:bodyPr wrap="none" lIns="0" tIns="0" rIns="0" bIns="0" anchor="ctr">
            <a:noAutofit/>
          </a:bodyPr>
          <a:lstStyle/>
          <a:p>
            <a:pPr algn="l">
              <a:defRPr sz="1425" b="1">
                <a:solidFill>
                  <a:srgbClr val="142C42"/>
                </a:solidFill>
                <a:latin typeface="Arial"/>
                <a:ea typeface="Arial"/>
                <a:cs typeface="Arial"/>
              </a:defRPr>
            </a:pPr>
            <a:r>
              <a:rPr sz="1425" b="1" dirty="0">
                <a:solidFill>
                  <a:srgbClr val="142C42"/>
                </a:solidFill>
                <a:latin typeface="Arial"/>
                <a:ea typeface="Arial"/>
                <a:cs typeface="Arial"/>
              </a:rPr>
              <a:t>APPLICATIONS</a:t>
            </a:r>
          </a:p>
        </p:txBody>
      </p:sp>
      <p:sp>
        <p:nvSpPr>
          <p:cNvPr id="55" name="Education &amp; psychology">
            <a:extLst>
              <a:ext uri="{FF2B5EF4-FFF2-40B4-BE49-F238E27FC236}">
                <a16:creationId xmlns:a16="http://schemas.microsoft.com/office/drawing/2014/main" id="{F5529246-C170-4EC2-A7CF-398D5302B46E}"/>
              </a:ext>
            </a:extLst>
          </p:cNvPr>
          <p:cNvSpPr>
            <a:spLocks noGrp="1"/>
          </p:cNvSpPr>
          <p:nvPr/>
        </p:nvSpPr>
        <p:spPr>
          <a:xfrm>
            <a:off x="3981450" y="2828055"/>
            <a:ext cx="3286125" cy="323850"/>
          </a:xfrm>
          <a:prstGeom prst="rect">
            <a:avLst/>
          </a:prstGeom>
          <a:noFill/>
          <a:ln w="0">
            <a:noFill/>
            <a:prstDash val="solid"/>
          </a:ln>
        </p:spPr>
        <p:txBody>
          <a:bodyPr wrap="none" lIns="0" tIns="0" rIns="0" bIns="0" anchor="ctr">
            <a:noAutofit/>
          </a:bodyPr>
          <a:lstStyle/>
          <a:p>
            <a:pPr algn="l">
              <a:defRPr sz="1800" b="0">
                <a:solidFill>
                  <a:srgbClr val="142C42"/>
                </a:solidFill>
                <a:latin typeface="Arial"/>
                <a:ea typeface="Arial"/>
                <a:cs typeface="Arial"/>
              </a:defRPr>
            </a:pPr>
            <a:r>
              <a:rPr sz="1800" b="0">
                <a:solidFill>
                  <a:srgbClr val="142C42"/>
                </a:solidFill>
                <a:latin typeface="Arial"/>
                <a:ea typeface="Arial"/>
                <a:cs typeface="Arial"/>
              </a:rPr>
              <a:t>Education &amp; psychology</a:t>
            </a:r>
          </a:p>
        </p:txBody>
      </p:sp>
      <p:sp>
        <p:nvSpPr>
          <p:cNvPr id="56" name="Health &amp; survival">
            <a:extLst>
              <a:ext uri="{FF2B5EF4-FFF2-40B4-BE49-F238E27FC236}">
                <a16:creationId xmlns:a16="http://schemas.microsoft.com/office/drawing/2014/main" id="{328B39CF-6DF8-4D75-9500-C707A38FFA22}"/>
              </a:ext>
            </a:extLst>
          </p:cNvPr>
          <p:cNvSpPr>
            <a:spLocks noGrp="1"/>
          </p:cNvSpPr>
          <p:nvPr/>
        </p:nvSpPr>
        <p:spPr>
          <a:xfrm>
            <a:off x="8010525" y="2828055"/>
            <a:ext cx="2733675" cy="323850"/>
          </a:xfrm>
          <a:prstGeom prst="rect">
            <a:avLst/>
          </a:prstGeom>
          <a:noFill/>
          <a:ln w="0">
            <a:noFill/>
            <a:prstDash val="solid"/>
          </a:ln>
        </p:spPr>
        <p:txBody>
          <a:bodyPr wrap="none" lIns="0" tIns="0" rIns="0" bIns="0" anchor="ctr">
            <a:noAutofit/>
          </a:bodyPr>
          <a:lstStyle/>
          <a:p>
            <a:pPr algn="l">
              <a:defRPr sz="1800" b="0">
                <a:solidFill>
                  <a:srgbClr val="142C42"/>
                </a:solidFill>
                <a:latin typeface="Arial"/>
                <a:ea typeface="Arial"/>
                <a:cs typeface="Arial"/>
              </a:defRPr>
            </a:pPr>
            <a:r>
              <a:rPr sz="1800" b="0">
                <a:solidFill>
                  <a:srgbClr val="142C42"/>
                </a:solidFill>
                <a:latin typeface="Arial"/>
                <a:ea typeface="Arial"/>
                <a:cs typeface="Arial"/>
              </a:rPr>
              <a:t>Health &amp; survival</a:t>
            </a:r>
          </a:p>
        </p:txBody>
      </p:sp>
      <p:sp>
        <p:nvSpPr>
          <p:cNvPr id="57" name="Environment &amp; climate">
            <a:extLst>
              <a:ext uri="{FF2B5EF4-FFF2-40B4-BE49-F238E27FC236}">
                <a16:creationId xmlns:a16="http://schemas.microsoft.com/office/drawing/2014/main" id="{3EFC60F4-FD03-41A7-833E-A152B38AE11E}"/>
              </a:ext>
            </a:extLst>
          </p:cNvPr>
          <p:cNvSpPr>
            <a:spLocks noGrp="1"/>
          </p:cNvSpPr>
          <p:nvPr/>
        </p:nvSpPr>
        <p:spPr>
          <a:xfrm>
            <a:off x="11487150" y="2828055"/>
            <a:ext cx="3114675" cy="323850"/>
          </a:xfrm>
          <a:prstGeom prst="rect">
            <a:avLst/>
          </a:prstGeom>
          <a:noFill/>
          <a:ln w="0">
            <a:noFill/>
            <a:prstDash val="solid"/>
          </a:ln>
        </p:spPr>
        <p:txBody>
          <a:bodyPr wrap="none" lIns="0" tIns="0" rIns="0" bIns="0" anchor="ctr">
            <a:noAutofit/>
          </a:bodyPr>
          <a:lstStyle/>
          <a:p>
            <a:pPr algn="l">
              <a:defRPr sz="1800" b="0">
                <a:solidFill>
                  <a:srgbClr val="142C42"/>
                </a:solidFill>
                <a:latin typeface="Arial"/>
                <a:ea typeface="Arial"/>
                <a:cs typeface="Arial"/>
              </a:defRPr>
            </a:pPr>
            <a:r>
              <a:rPr sz="1800" b="0">
                <a:solidFill>
                  <a:srgbClr val="142C42"/>
                </a:solidFill>
                <a:latin typeface="Arial"/>
                <a:ea typeface="Arial"/>
                <a:cs typeface="Arial"/>
              </a:rPr>
              <a:t>Environment &amp; climate</a:t>
            </a:r>
          </a:p>
        </p:txBody>
      </p:sp>
      <p:cxnSp>
        <p:nvCxnSpPr>
          <p:cNvPr id="60" name="Straight Arrow Connector 59">
            <a:extLst>
              <a:ext uri="{FF2B5EF4-FFF2-40B4-BE49-F238E27FC236}">
                <a16:creationId xmlns:a16="http://schemas.microsoft.com/office/drawing/2014/main" id="{B3A083B0-8E72-660E-A97D-EA596BE2918C}"/>
              </a:ext>
            </a:extLst>
          </p:cNvPr>
          <p:cNvCxnSpPr>
            <a:cxnSpLocks/>
          </p:cNvCxnSpPr>
          <p:nvPr/>
        </p:nvCxnSpPr>
        <p:spPr>
          <a:xfrm>
            <a:off x="7589322" y="2131740"/>
            <a:ext cx="0" cy="33832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9403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1939</Words>
  <Application>Microsoft Macintosh PowerPoint</Application>
  <DocSecurity>0</DocSecurity>
  <PresentationFormat>Custom</PresentationFormat>
  <Paragraphs>85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Haziq Jamil</cp:lastModifiedBy>
  <cp:revision>1</cp:revision>
  <dcterms:created xsi:type="dcterms:W3CDTF">2026-09-28T06:55:29Z</dcterms:created>
  <dcterms:modified xsi:type="dcterms:W3CDTF">2026-09-28T12:46:27Z</dcterms:modified>
</cp:coreProperties>
</file>